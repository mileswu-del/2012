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24"/>
  </p:notesMasterIdLst>
  <p:sldIdLst>
    <p:sldId id="314" r:id="rId2"/>
    <p:sldId id="260" r:id="rId3"/>
    <p:sldId id="296" r:id="rId4"/>
    <p:sldId id="299" r:id="rId5"/>
    <p:sldId id="297" r:id="rId6"/>
    <p:sldId id="295" r:id="rId7"/>
    <p:sldId id="298" r:id="rId8"/>
    <p:sldId id="300" r:id="rId9"/>
    <p:sldId id="301" r:id="rId10"/>
    <p:sldId id="303" r:id="rId11"/>
    <p:sldId id="302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259" r:id="rId23"/>
  </p:sldIdLst>
  <p:sldSz cx="9144000" cy="6858000" type="screen4x3"/>
  <p:notesSz cx="6805613" cy="9939338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0099FF"/>
    <a:srgbClr val="D60093"/>
    <a:srgbClr val="CC6600"/>
    <a:srgbClr val="FF9999"/>
    <a:srgbClr val="9900CC"/>
    <a:srgbClr val="336699"/>
    <a:srgbClr val="800080"/>
    <a:srgbClr val="CCFFFF"/>
    <a:srgbClr val="9900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1" d="100"/>
          <a:sy n="71" d="100"/>
        </p:scale>
        <p:origin x="-1134" y="-762"/>
      </p:cViewPr>
      <p:guideLst>
        <p:guide orient="horz" pos="2160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fld id="{913D3D20-9CEE-47A7-B30C-4A8EE66BA964}" type="datetimeFigureOut">
              <a:rPr lang="zh-TW" altLang="en-US"/>
              <a:pPr>
                <a:defRPr/>
              </a:pPr>
              <a:t>2012/6/2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 smtClean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4939" y="9440646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fld id="{BEEE8F96-6105-4B69-80C9-176A2FDB91C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/>
          <p:cNvSpPr txBox="1"/>
          <p:nvPr userDrawn="1"/>
        </p:nvSpPr>
        <p:spPr>
          <a:xfrm>
            <a:off x="4067944" y="6165304"/>
            <a:ext cx="10081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E9703A-BC24-44B3-9D30-DA71EEFFCD70}" type="slidenum">
              <a:rPr lang="en-US" altLang="zh-TW" sz="1600" smtClean="0">
                <a:ea typeface="新細明體" charset="-120"/>
              </a:rPr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altLang="zh-TW" sz="1600" dirty="0" smtClean="0">
                <a:ea typeface="新細明體" charset="-120"/>
              </a:rPr>
              <a:t>/22</a:t>
            </a:r>
            <a:endParaRPr lang="zh-TW" altLang="en-US" sz="1600" dirty="0"/>
          </a:p>
        </p:txBody>
      </p:sp>
      <p:sp>
        <p:nvSpPr>
          <p:cNvPr id="6" name="圓角矩形 5"/>
          <p:cNvSpPr/>
          <p:nvPr userDrawn="1"/>
        </p:nvSpPr>
        <p:spPr bwMode="auto">
          <a:xfrm>
            <a:off x="3131840" y="0"/>
            <a:ext cx="5616873" cy="576263"/>
          </a:xfrm>
          <a:prstGeom prst="roundRect">
            <a:avLst/>
          </a:prstGeom>
          <a:solidFill>
            <a:srgbClr val="336600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r>
              <a:rPr lang="zh-TW" altLang="en-US" sz="3200" dirty="0" smtClean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化工廠控制系統介紹</a:t>
            </a:r>
            <a:r>
              <a:rPr lang="en-US" altLang="zh-TW" sz="3200" dirty="0" smtClean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:DCS/SIS</a:t>
            </a:r>
            <a:endParaRPr lang="zh-TW" altLang="en-US" sz="3200" dirty="0">
              <a:ea typeface="新細明體" charset="-120"/>
            </a:endParaRPr>
          </a:p>
        </p:txBody>
      </p:sp>
      <p:sp>
        <p:nvSpPr>
          <p:cNvPr id="8" name="文字方塊 7"/>
          <p:cNvSpPr txBox="1"/>
          <p:nvPr userDrawn="1"/>
        </p:nvSpPr>
        <p:spPr>
          <a:xfrm>
            <a:off x="1043608" y="6093296"/>
            <a:ext cx="935037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1600" b="1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6</a:t>
            </a:r>
            <a:r>
              <a:rPr lang="zh-TW" altLang="en-US" sz="1600" b="1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月</a:t>
            </a:r>
            <a:r>
              <a:rPr lang="en-US" altLang="zh-TW" sz="1600" b="1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16</a:t>
            </a:r>
            <a:r>
              <a:rPr lang="zh-TW" altLang="en-US" sz="1600" b="1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日</a:t>
            </a:r>
            <a:endParaRPr lang="zh-TW" altLang="en-US" sz="1600" dirty="0">
              <a:solidFill>
                <a:srgbClr val="0000CC"/>
              </a:solidFill>
              <a:ea typeface="新細明體" charset="-12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2626D-0578-4E88-9E2D-BC6060BF3BD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1E3BC2-DA18-4D24-867B-B1AEC04F71C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9F4C23-DC36-4D3A-9C15-606F4D714F6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DE6DF2-61AC-46C4-8FA5-63E878F91BB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F01F5C-E4E6-4DF3-BA6B-91C1F26EAF5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F5041-141F-4949-82D5-C37CC9F280C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22D22-8D40-4D80-9840-05B091333D0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2090A-7AEB-43CE-916F-98497926082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32A809-1E1A-469D-8B82-2A432D4BC4D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80B67-EE20-4BF1-A264-1D82FFE154A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E2D12A-8DEC-419F-A323-9021C414AD9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fld id="{A8293645-C416-4098-989B-055DA4B7FFB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9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Photo/DCS/CCP-DCS-01-02-FRONT-IN.JPG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67544" y="2130425"/>
            <a:ext cx="8208912" cy="1470025"/>
          </a:xfrm>
        </p:spPr>
        <p:txBody>
          <a:bodyPr/>
          <a:lstStyle/>
          <a:p>
            <a:pPr>
              <a:defRPr/>
            </a:pPr>
            <a:r>
              <a:rPr lang="zh-TW" altLang="en-US" b="1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  <a:cs typeface="Arial Unicode MS" pitchFamily="34" charset="-120"/>
              </a:rPr>
              <a:t>化工廠控制系統介紹：</a:t>
            </a:r>
            <a:r>
              <a:rPr lang="en-US" altLang="zh-TW" b="1" dirty="0" smtClean="0">
                <a:solidFill>
                  <a:srgbClr val="0000CC"/>
                </a:solidFill>
                <a:ea typeface="標楷體" pitchFamily="65" charset="-120"/>
                <a:cs typeface="Arial Unicode MS" pitchFamily="34" charset="-120"/>
              </a:rPr>
              <a:t>DCS/SIS</a:t>
            </a:r>
            <a:endParaRPr lang="zh-TW" altLang="en-US" b="1" dirty="0" smtClean="0">
              <a:solidFill>
                <a:srgbClr val="0000CC"/>
              </a:solidFill>
              <a:ea typeface="標楷體" pitchFamily="65" charset="-120"/>
              <a:cs typeface="Arial Unicode MS" pitchFamily="34" charset="-120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altLang="zh-TW" dirty="0" smtClean="0"/>
          </a:p>
          <a:p>
            <a:pPr eaLnBrk="1" hangingPunct="1"/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余麗玲</a:t>
            </a:r>
          </a:p>
          <a:p>
            <a:pPr eaLnBrk="1" hangingPunct="1"/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中鼎工程股份有限公司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  <a:p>
            <a:pPr eaLnBrk="1" hangingPunct="1"/>
            <a:r>
              <a:rPr lang="en-US" altLang="zh-TW" dirty="0" smtClean="0"/>
              <a:t>2012. 06. 16 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zh-TW" altLang="en-US" dirty="0" smtClean="0"/>
              <a:t>                         </a:t>
            </a:r>
            <a:endParaRPr lang="en-US" dirty="0" smtClean="0"/>
          </a:p>
        </p:txBody>
      </p:sp>
      <p:sp>
        <p:nvSpPr>
          <p:cNvPr id="307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09198EB-DC1D-4F27-AD7C-5481F9D772A8}" type="slidenum">
              <a:rPr lang="en-US" altLang="zh-TW" smtClean="0"/>
              <a:pPr/>
              <a:t>1</a:t>
            </a:fld>
            <a:endParaRPr lang="en-US" altLang="zh-TW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文字方塊 5"/>
          <p:cNvSpPr txBox="1">
            <a:spLocks noChangeArrowheads="1"/>
          </p:cNvSpPr>
          <p:nvPr/>
        </p:nvSpPr>
        <p:spPr bwMode="auto">
          <a:xfrm>
            <a:off x="468313" y="476250"/>
            <a:ext cx="8352159" cy="1033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200000"/>
              </a:lnSpc>
            </a:pPr>
            <a:r>
              <a:rPr kumimoji="1" lang="en-US" altLang="zh-TW" sz="3600" b="1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DCS/PLC</a:t>
            </a:r>
            <a:r>
              <a:rPr kumimoji="1" lang="en-US" altLang="zh-TW" sz="3600" b="1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:</a:t>
            </a:r>
            <a:r>
              <a:rPr kumimoji="1" lang="zh-TW" altLang="en-US" sz="3600" b="1" dirty="0" smtClean="0">
                <a:solidFill>
                  <a:srgbClr val="990000"/>
                </a:solidFill>
                <a:latin typeface="標楷體" pitchFamily="65" charset="-120"/>
                <a:ea typeface="標楷體" pitchFamily="65" charset="-120"/>
              </a:rPr>
              <a:t>過去的分類</a:t>
            </a:r>
            <a:r>
              <a:rPr kumimoji="1" lang="en-US" altLang="zh-TW" sz="3600" b="1" dirty="0" smtClean="0">
                <a:solidFill>
                  <a:srgbClr val="990000"/>
                </a:solidFill>
                <a:latin typeface="標楷體" pitchFamily="65" charset="-120"/>
                <a:ea typeface="標楷體" pitchFamily="65" charset="-120"/>
              </a:rPr>
              <a:t>/</a:t>
            </a:r>
            <a:r>
              <a:rPr kumimoji="1" lang="zh-TW" altLang="en-US" sz="3600" b="1" dirty="0" smtClean="0">
                <a:solidFill>
                  <a:srgbClr val="990000"/>
                </a:solidFill>
                <a:latin typeface="標楷體" pitchFamily="65" charset="-120"/>
                <a:ea typeface="標楷體" pitchFamily="65" charset="-120"/>
              </a:rPr>
              <a:t>應用</a:t>
            </a:r>
            <a:endParaRPr kumimoji="1" lang="en-US" altLang="zh-TW" sz="3600" b="1" dirty="0">
              <a:solidFill>
                <a:srgbClr val="99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文字方塊 5"/>
          <p:cNvSpPr txBox="1">
            <a:spLocks noChangeArrowheads="1"/>
          </p:cNvSpPr>
          <p:nvPr/>
        </p:nvSpPr>
        <p:spPr bwMode="auto">
          <a:xfrm>
            <a:off x="0" y="1844824"/>
            <a:ext cx="9144000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742950" indent="-742950" eaLnBrk="1" hangingPunct="1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</a:pPr>
            <a:r>
              <a:rPr kumimoji="1" lang="en-US" altLang="zh-TW" sz="3600" b="1" dirty="0" smtClean="0">
                <a:solidFill>
                  <a:srgbClr val="7030A0"/>
                </a:solidFill>
                <a:latin typeface="標楷體" pitchFamily="65" charset="-120"/>
                <a:ea typeface="標楷體" pitchFamily="65" charset="-120"/>
              </a:rPr>
              <a:t>DCS </a:t>
            </a:r>
            <a:r>
              <a:rPr kumimoji="1" lang="en-US" altLang="zh-TW" sz="3600" b="1" dirty="0" smtClean="0">
                <a:solidFill>
                  <a:srgbClr val="7030A0"/>
                </a:solidFill>
                <a:latin typeface="標楷體" pitchFamily="65" charset="-120"/>
                <a:ea typeface="標楷體" pitchFamily="65" charset="-120"/>
              </a:rPr>
              <a:t>(Distributed Control System)</a:t>
            </a:r>
            <a:r>
              <a:rPr kumimoji="1" lang="en-US" altLang="zh-TW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: </a:t>
            </a:r>
            <a:r>
              <a:rPr kumimoji="1" lang="zh-TW" altLang="en-US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工廠日常之自動</a:t>
            </a:r>
            <a:r>
              <a:rPr kumimoji="1" lang="en-US" altLang="zh-TW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Analog</a:t>
            </a:r>
            <a:r>
              <a:rPr kumimoji="1" lang="zh-TW" altLang="en-US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控制，圖控一體</a:t>
            </a:r>
            <a:endParaRPr kumimoji="1" lang="en-US" altLang="zh-TW" sz="3600" b="1" dirty="0" smtClean="0">
              <a:solidFill>
                <a:srgbClr val="669900"/>
              </a:solidFill>
              <a:latin typeface="標楷體" pitchFamily="65" charset="-120"/>
              <a:ea typeface="標楷體" pitchFamily="65" charset="-120"/>
            </a:endParaRPr>
          </a:p>
          <a:p>
            <a:pPr marL="742950" indent="-742950" eaLnBrk="1" hangingPunct="1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</a:pPr>
            <a:r>
              <a:rPr kumimoji="1" lang="en-US" altLang="zh-TW" sz="3600" b="1" dirty="0" smtClean="0">
                <a:solidFill>
                  <a:srgbClr val="7030A0"/>
                </a:solidFill>
                <a:latin typeface="標楷體" pitchFamily="65" charset="-120"/>
                <a:ea typeface="標楷體" pitchFamily="65" charset="-120"/>
              </a:rPr>
              <a:t>PLC (Programmable Logic Controller)</a:t>
            </a:r>
            <a:r>
              <a:rPr kumimoji="1" lang="en-US" altLang="zh-TW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:</a:t>
            </a:r>
            <a:r>
              <a:rPr kumimoji="1" lang="zh-TW" altLang="en-US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工廠連鎖及跳</a:t>
            </a:r>
            <a:r>
              <a:rPr kumimoji="1" lang="zh-TW" altLang="en-US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車，圖</a:t>
            </a:r>
            <a:r>
              <a:rPr kumimoji="1" lang="zh-TW" altLang="en-US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控</a:t>
            </a:r>
            <a:r>
              <a:rPr kumimoji="1" lang="en-US" altLang="zh-TW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/SCADA</a:t>
            </a:r>
            <a:r>
              <a:rPr kumimoji="1" lang="zh-TW" altLang="en-US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須另整合</a:t>
            </a:r>
            <a:endParaRPr kumimoji="1" lang="en-US" altLang="zh-TW" sz="3600" b="1" dirty="0">
              <a:solidFill>
                <a:srgbClr val="669900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文字方塊 5"/>
          <p:cNvSpPr txBox="1">
            <a:spLocks noChangeArrowheads="1"/>
          </p:cNvSpPr>
          <p:nvPr/>
        </p:nvSpPr>
        <p:spPr bwMode="auto">
          <a:xfrm>
            <a:off x="468313" y="476250"/>
            <a:ext cx="8352159" cy="1033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200000"/>
              </a:lnSpc>
            </a:pPr>
            <a:r>
              <a:rPr kumimoji="1" lang="en-US" altLang="zh-TW" sz="3600" b="1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DCS</a:t>
            </a:r>
            <a:r>
              <a:rPr kumimoji="1" lang="en-US" altLang="zh-TW" sz="3600" b="1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: </a:t>
            </a:r>
            <a:r>
              <a:rPr kumimoji="1" lang="en-US" altLang="zh-TW" sz="3600" b="1" dirty="0" smtClean="0">
                <a:solidFill>
                  <a:srgbClr val="990000"/>
                </a:solidFill>
                <a:latin typeface="標楷體" pitchFamily="65" charset="-120"/>
                <a:ea typeface="標楷體" pitchFamily="65" charset="-120"/>
              </a:rPr>
              <a:t>Analog Control and Monitoring</a:t>
            </a:r>
            <a:endParaRPr kumimoji="1" lang="en-US" altLang="zh-TW" sz="3600" b="1" dirty="0">
              <a:solidFill>
                <a:srgbClr val="990000"/>
              </a:solidFill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1" y="1700808"/>
            <a:ext cx="7570275" cy="4392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文字方塊 5"/>
          <p:cNvSpPr txBox="1">
            <a:spLocks noChangeArrowheads="1"/>
          </p:cNvSpPr>
          <p:nvPr/>
        </p:nvSpPr>
        <p:spPr bwMode="auto">
          <a:xfrm>
            <a:off x="468313" y="476250"/>
            <a:ext cx="8352159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200000"/>
              </a:lnSpc>
            </a:pPr>
            <a:r>
              <a:rPr kumimoji="1" lang="en-US" altLang="zh-TW" sz="3600" b="1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DCS</a:t>
            </a:r>
            <a:r>
              <a:rPr kumimoji="1" lang="en-US" altLang="zh-TW" sz="3600" b="1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: </a:t>
            </a:r>
            <a:r>
              <a:rPr kumimoji="1" lang="en-US" altLang="zh-TW" sz="3600" b="1" dirty="0" smtClean="0">
                <a:solidFill>
                  <a:srgbClr val="990000"/>
                </a:solidFill>
                <a:latin typeface="標楷體" pitchFamily="65" charset="-120"/>
                <a:ea typeface="標楷體" pitchFamily="65" charset="-120"/>
              </a:rPr>
              <a:t>Distributed </a:t>
            </a:r>
            <a:r>
              <a:rPr kumimoji="1" lang="zh-TW" altLang="en-US" sz="3600" b="1" dirty="0" smtClean="0">
                <a:solidFill>
                  <a:srgbClr val="990000"/>
                </a:solidFill>
                <a:latin typeface="標楷體" pitchFamily="65" charset="-120"/>
                <a:ea typeface="標楷體" pitchFamily="65" charset="-120"/>
              </a:rPr>
              <a:t>分散在不同控制器</a:t>
            </a:r>
            <a:endParaRPr kumimoji="1" lang="en-US" altLang="zh-TW" sz="3600" b="1" dirty="0">
              <a:solidFill>
                <a:srgbClr val="990000"/>
              </a:solidFill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772816"/>
            <a:ext cx="5574813" cy="432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文字方塊 7"/>
          <p:cNvSpPr txBox="1">
            <a:spLocks noChangeArrowheads="1"/>
          </p:cNvSpPr>
          <p:nvPr/>
        </p:nvSpPr>
        <p:spPr bwMode="auto">
          <a:xfrm>
            <a:off x="5220072" y="2060848"/>
            <a:ext cx="3600400" cy="2785378"/>
          </a:xfrm>
          <a:prstGeom prst="rect">
            <a:avLst/>
          </a:prstGeom>
          <a:solidFill>
            <a:schemeClr val="accent5">
              <a:lumMod val="90000"/>
            </a:schemeClr>
          </a:solidFill>
          <a:ln w="9525">
            <a:solidFill>
              <a:srgbClr val="336600"/>
            </a:solidFill>
            <a:miter lim="800000"/>
            <a:headEnd/>
            <a:tailEnd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 prst="convex"/>
          </a:sp3d>
        </p:spPr>
        <p:txBody>
          <a:bodyPr wrap="square">
            <a:spAutoFit/>
          </a:bodyPr>
          <a:lstStyle/>
          <a:p>
            <a:pPr marL="514350" indent="-514350"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  <a:defRPr/>
            </a:pPr>
            <a:r>
              <a:rPr lang="en-US" altLang="zh-TW" sz="3200" b="1" dirty="0" smtClean="0">
                <a:solidFill>
                  <a:srgbClr val="336600"/>
                </a:solidFill>
                <a:latin typeface="標楷體" pitchFamily="65" charset="-120"/>
                <a:ea typeface="標楷體" pitchFamily="65" charset="-120"/>
              </a:rPr>
              <a:t>PLC</a:t>
            </a:r>
            <a:r>
              <a:rPr lang="zh-TW" altLang="en-US" sz="3200" b="1" dirty="0" smtClean="0">
                <a:solidFill>
                  <a:srgbClr val="336600"/>
                </a:solidFill>
                <a:latin typeface="標楷體" pitchFamily="65" charset="-120"/>
                <a:ea typeface="標楷體" pitchFamily="65" charset="-120"/>
              </a:rPr>
              <a:t> 只有一套</a:t>
            </a:r>
            <a:r>
              <a:rPr lang="en-US" altLang="zh-TW" sz="3200" b="1" dirty="0" smtClean="0">
                <a:solidFill>
                  <a:srgbClr val="336600"/>
                </a:solidFill>
                <a:latin typeface="標楷體" pitchFamily="65" charset="-120"/>
                <a:ea typeface="標楷體" pitchFamily="65" charset="-120"/>
              </a:rPr>
              <a:t>CPU</a:t>
            </a:r>
            <a:r>
              <a:rPr lang="zh-TW" altLang="en-US" sz="3200" b="1" dirty="0" smtClean="0">
                <a:solidFill>
                  <a:srgbClr val="336600"/>
                </a:solidFill>
                <a:latin typeface="標楷體" pitchFamily="65" charset="-120"/>
                <a:ea typeface="標楷體" pitchFamily="65" charset="-120"/>
              </a:rPr>
              <a:t>，所有</a:t>
            </a:r>
            <a:r>
              <a:rPr lang="en-US" altLang="zh-TW" sz="3200" b="1" dirty="0" smtClean="0">
                <a:solidFill>
                  <a:srgbClr val="336600"/>
                </a:solidFill>
                <a:latin typeface="標楷體" pitchFamily="65" charset="-120"/>
                <a:ea typeface="標楷體" pitchFamily="65" charset="-120"/>
              </a:rPr>
              <a:t>I/O Module</a:t>
            </a:r>
            <a:r>
              <a:rPr lang="zh-TW" altLang="en-US" sz="3200" b="1" dirty="0" smtClean="0">
                <a:solidFill>
                  <a:srgbClr val="336600"/>
                </a:solidFill>
                <a:latin typeface="標楷體" pitchFamily="65" charset="-120"/>
                <a:ea typeface="標楷體" pitchFamily="65" charset="-120"/>
              </a:rPr>
              <a:t>接於此。</a:t>
            </a:r>
            <a:endParaRPr lang="en-US" altLang="zh-TW" sz="3200" b="1" dirty="0" smtClean="0">
              <a:solidFill>
                <a:srgbClr val="336600"/>
              </a:solidFill>
              <a:latin typeface="標楷體" pitchFamily="65" charset="-120"/>
              <a:ea typeface="標楷體" pitchFamily="65" charset="-120"/>
            </a:endParaRPr>
          </a:p>
          <a:p>
            <a:pPr marL="514350" indent="-514350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/>
            </a:pPr>
            <a:r>
              <a:rPr lang="zh-TW" altLang="en-US" sz="3200" b="1" dirty="0" smtClean="0">
                <a:solidFill>
                  <a:srgbClr val="336600"/>
                </a:solidFill>
                <a:latin typeface="標楷體" pitchFamily="65" charset="-120"/>
                <a:ea typeface="標楷體" pitchFamily="65" charset="-120"/>
              </a:rPr>
              <a:t>新型</a:t>
            </a:r>
            <a:r>
              <a:rPr lang="en-US" altLang="zh-TW" sz="3200" b="1" dirty="0" smtClean="0">
                <a:solidFill>
                  <a:srgbClr val="336600"/>
                </a:solidFill>
                <a:latin typeface="標楷體" pitchFamily="65" charset="-120"/>
                <a:ea typeface="標楷體" pitchFamily="65" charset="-120"/>
              </a:rPr>
              <a:t>SIS</a:t>
            </a:r>
            <a:r>
              <a:rPr lang="zh-TW" altLang="en-US" sz="3200" b="1" dirty="0" smtClean="0">
                <a:solidFill>
                  <a:srgbClr val="336600"/>
                </a:solidFill>
                <a:latin typeface="標楷體" pitchFamily="65" charset="-120"/>
                <a:ea typeface="標楷體" pitchFamily="65" charset="-120"/>
              </a:rPr>
              <a:t>亦有分散式</a:t>
            </a:r>
            <a:r>
              <a:rPr lang="en-US" altLang="zh-TW" sz="3200" b="1" dirty="0" smtClean="0">
                <a:solidFill>
                  <a:srgbClr val="336600"/>
                </a:solidFill>
                <a:latin typeface="標楷體" pitchFamily="65" charset="-120"/>
                <a:ea typeface="標楷體" pitchFamily="65" charset="-120"/>
              </a:rPr>
              <a:t>CPU</a:t>
            </a:r>
            <a:r>
              <a:rPr lang="zh-TW" altLang="en-US" sz="3200" b="1" dirty="0" smtClean="0">
                <a:solidFill>
                  <a:srgbClr val="336600"/>
                </a:solidFill>
                <a:latin typeface="標楷體" pitchFamily="65" charset="-120"/>
                <a:ea typeface="標楷體" pitchFamily="65" charset="-120"/>
              </a:rPr>
              <a:t>設計。</a:t>
            </a:r>
            <a:endParaRPr lang="zh-TW" altLang="en-US" sz="3200" b="1" dirty="0">
              <a:solidFill>
                <a:srgbClr val="336600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文字方塊 5"/>
          <p:cNvSpPr txBox="1">
            <a:spLocks noChangeArrowheads="1"/>
          </p:cNvSpPr>
          <p:nvPr/>
        </p:nvSpPr>
        <p:spPr bwMode="auto">
          <a:xfrm>
            <a:off x="468313" y="476250"/>
            <a:ext cx="8352159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200000"/>
              </a:lnSpc>
            </a:pPr>
            <a:r>
              <a:rPr kumimoji="1" lang="en-US" altLang="zh-TW" sz="3600" b="1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PLC</a:t>
            </a:r>
            <a:r>
              <a:rPr kumimoji="1" lang="en-US" altLang="zh-TW" sz="3600" b="1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: </a:t>
            </a:r>
            <a:r>
              <a:rPr kumimoji="1" lang="en-US" altLang="zh-TW" sz="3600" b="1" dirty="0" smtClean="0">
                <a:solidFill>
                  <a:srgbClr val="990000"/>
                </a:solidFill>
                <a:latin typeface="標楷體" pitchFamily="65" charset="-120"/>
                <a:ea typeface="標楷體" pitchFamily="65" charset="-120"/>
              </a:rPr>
              <a:t>Digital 0/1 Interlock Logics</a:t>
            </a:r>
            <a:endParaRPr kumimoji="1" lang="en-US" altLang="zh-TW" sz="3600" b="1" dirty="0">
              <a:solidFill>
                <a:srgbClr val="990000"/>
              </a:solidFill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700808"/>
            <a:ext cx="4157604" cy="432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文字方塊 7"/>
          <p:cNvSpPr txBox="1">
            <a:spLocks noChangeArrowheads="1"/>
          </p:cNvSpPr>
          <p:nvPr/>
        </p:nvSpPr>
        <p:spPr bwMode="auto">
          <a:xfrm>
            <a:off x="4499992" y="1988840"/>
            <a:ext cx="4176464" cy="3693319"/>
          </a:xfrm>
          <a:prstGeom prst="rect">
            <a:avLst/>
          </a:prstGeom>
          <a:solidFill>
            <a:schemeClr val="accent5">
              <a:lumMod val="90000"/>
            </a:schemeClr>
          </a:solidFill>
          <a:ln w="9525">
            <a:solidFill>
              <a:srgbClr val="336600"/>
            </a:solidFill>
            <a:miter lim="800000"/>
            <a:headEnd/>
            <a:tailEnd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 prst="convex"/>
          </a:sp3d>
        </p:spPr>
        <p:txBody>
          <a:bodyPr wrap="square">
            <a:spAutoFit/>
          </a:bodyPr>
          <a:lstStyle/>
          <a:p>
            <a:pPr marL="514350" indent="-514350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/>
            </a:pPr>
            <a:r>
              <a:rPr lang="zh-TW" altLang="en-US" sz="3200" b="1" dirty="0" smtClean="0">
                <a:solidFill>
                  <a:srgbClr val="336600"/>
                </a:solidFill>
                <a:latin typeface="標楷體" pitchFamily="65" charset="-120"/>
                <a:ea typeface="標楷體" pitchFamily="65" charset="-120"/>
              </a:rPr>
              <a:t>製程異常時</a:t>
            </a:r>
            <a:r>
              <a:rPr lang="en-US" altLang="zh-TW" sz="3200" b="1" dirty="0" smtClean="0">
                <a:solidFill>
                  <a:srgbClr val="336600"/>
                </a:solidFill>
                <a:latin typeface="標楷體" pitchFamily="65" charset="-120"/>
                <a:ea typeface="標楷體" pitchFamily="65" charset="-120"/>
              </a:rPr>
              <a:t>Switch</a:t>
            </a:r>
            <a:r>
              <a:rPr lang="zh-TW" altLang="en-US" sz="3200" b="1" dirty="0" smtClean="0">
                <a:solidFill>
                  <a:srgbClr val="336600"/>
                </a:solidFill>
                <a:latin typeface="標楷體" pitchFamily="65" charset="-120"/>
                <a:ea typeface="標楷體" pitchFamily="65" charset="-120"/>
              </a:rPr>
              <a:t>做動，輸出由</a:t>
            </a:r>
            <a:r>
              <a:rPr lang="en-US" altLang="zh-TW" sz="3200" b="1" dirty="0" smtClean="0">
                <a:solidFill>
                  <a:srgbClr val="336600"/>
                </a:solidFill>
                <a:latin typeface="標楷體" pitchFamily="65" charset="-120"/>
                <a:ea typeface="標楷體" pitchFamily="65" charset="-120"/>
              </a:rPr>
              <a:t>1</a:t>
            </a:r>
            <a:r>
              <a:rPr lang="zh-TW" altLang="en-US" sz="3200" b="1" dirty="0" smtClean="0">
                <a:solidFill>
                  <a:srgbClr val="336600"/>
                </a:solidFill>
                <a:latin typeface="標楷體" pitchFamily="65" charset="-120"/>
                <a:ea typeface="標楷體" pitchFamily="65" charset="-120"/>
              </a:rPr>
              <a:t>變成</a:t>
            </a:r>
            <a:r>
              <a:rPr lang="en-US" altLang="zh-TW" sz="3200" b="1" dirty="0" smtClean="0">
                <a:solidFill>
                  <a:srgbClr val="336600"/>
                </a:solidFill>
                <a:latin typeface="標楷體" pitchFamily="65" charset="-120"/>
                <a:ea typeface="標楷體" pitchFamily="65" charset="-120"/>
              </a:rPr>
              <a:t>0</a:t>
            </a:r>
            <a:r>
              <a:rPr lang="zh-TW" altLang="en-US" sz="3200" b="1" dirty="0" smtClean="0">
                <a:solidFill>
                  <a:srgbClr val="336600"/>
                </a:solidFill>
                <a:latin typeface="標楷體" pitchFamily="65" charset="-120"/>
                <a:ea typeface="標楷體" pitchFamily="65" charset="-120"/>
              </a:rPr>
              <a:t>，接進</a:t>
            </a:r>
            <a:r>
              <a:rPr lang="en-US" altLang="zh-TW" sz="3200" b="1" dirty="0" smtClean="0">
                <a:solidFill>
                  <a:srgbClr val="336600"/>
                </a:solidFill>
                <a:latin typeface="標楷體" pitchFamily="65" charset="-120"/>
                <a:ea typeface="標楷體" pitchFamily="65" charset="-120"/>
              </a:rPr>
              <a:t>PLC</a:t>
            </a:r>
            <a:r>
              <a:rPr lang="zh-TW" altLang="en-US" sz="3200" b="1" dirty="0" smtClean="0">
                <a:solidFill>
                  <a:srgbClr val="336600"/>
                </a:solidFill>
                <a:latin typeface="標楷體" pitchFamily="65" charset="-120"/>
                <a:ea typeface="標楷體" pitchFamily="65" charset="-120"/>
              </a:rPr>
              <a:t>。</a:t>
            </a:r>
            <a:endParaRPr lang="en-US" altLang="zh-TW" sz="3200" b="1" dirty="0" smtClean="0">
              <a:solidFill>
                <a:srgbClr val="336600"/>
              </a:solidFill>
              <a:latin typeface="標楷體" pitchFamily="65" charset="-120"/>
              <a:ea typeface="標楷體" pitchFamily="65" charset="-120"/>
            </a:endParaRPr>
          </a:p>
          <a:p>
            <a:pPr marL="514350" indent="-5143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altLang="zh-TW" sz="3200" b="1" dirty="0" smtClean="0">
                <a:solidFill>
                  <a:srgbClr val="336600"/>
                </a:solidFill>
                <a:latin typeface="標楷體" pitchFamily="65" charset="-120"/>
                <a:ea typeface="標楷體" pitchFamily="65" charset="-120"/>
              </a:rPr>
              <a:t>PLC</a:t>
            </a:r>
            <a:r>
              <a:rPr lang="zh-TW" altLang="en-US" sz="3200" b="1" dirty="0" smtClean="0">
                <a:solidFill>
                  <a:srgbClr val="336600"/>
                </a:solidFill>
                <a:latin typeface="標楷體" pitchFamily="65" charset="-120"/>
                <a:ea typeface="標楷體" pitchFamily="65" charset="-120"/>
              </a:rPr>
              <a:t>平常送</a:t>
            </a:r>
            <a:r>
              <a:rPr lang="en-US" altLang="zh-TW" sz="3200" b="1" dirty="0" smtClean="0">
                <a:solidFill>
                  <a:srgbClr val="336600"/>
                </a:solidFill>
                <a:latin typeface="標楷體" pitchFamily="65" charset="-120"/>
                <a:ea typeface="標楷體" pitchFamily="65" charset="-120"/>
              </a:rPr>
              <a:t>1</a:t>
            </a:r>
            <a:r>
              <a:rPr lang="zh-TW" altLang="en-US" sz="3200" b="1" dirty="0" smtClean="0">
                <a:solidFill>
                  <a:srgbClr val="336600"/>
                </a:solidFill>
                <a:latin typeface="標楷體" pitchFamily="65" charset="-120"/>
                <a:ea typeface="標楷體" pitchFamily="65" charset="-120"/>
              </a:rPr>
              <a:t>給電磁閥，製程異常時送</a:t>
            </a:r>
            <a:r>
              <a:rPr lang="en-US" altLang="zh-TW" sz="3200" b="1" dirty="0" smtClean="0">
                <a:solidFill>
                  <a:srgbClr val="336600"/>
                </a:solidFill>
                <a:latin typeface="標楷體" pitchFamily="65" charset="-120"/>
                <a:ea typeface="標楷體" pitchFamily="65" charset="-120"/>
              </a:rPr>
              <a:t>0</a:t>
            </a:r>
            <a:r>
              <a:rPr lang="zh-TW" altLang="en-US" sz="3200" b="1" dirty="0" smtClean="0">
                <a:solidFill>
                  <a:srgbClr val="336600"/>
                </a:solidFill>
                <a:latin typeface="標楷體" pitchFamily="65" charset="-120"/>
                <a:ea typeface="標楷體" pitchFamily="65" charset="-120"/>
              </a:rPr>
              <a:t>給電磁閥，以便關</a:t>
            </a:r>
            <a:r>
              <a:rPr lang="en-US" altLang="zh-TW" sz="3200" b="1" dirty="0" smtClean="0">
                <a:solidFill>
                  <a:srgbClr val="336600"/>
                </a:solidFill>
                <a:latin typeface="標楷體" pitchFamily="65" charset="-120"/>
                <a:ea typeface="標楷體" pitchFamily="65" charset="-120"/>
              </a:rPr>
              <a:t>On-off Valve</a:t>
            </a:r>
            <a:r>
              <a:rPr lang="zh-TW" altLang="en-US" sz="3200" b="1" dirty="0" smtClean="0">
                <a:solidFill>
                  <a:srgbClr val="336600"/>
                </a:solidFill>
                <a:latin typeface="標楷體" pitchFamily="65" charset="-120"/>
                <a:ea typeface="標楷體" pitchFamily="65" charset="-120"/>
              </a:rPr>
              <a:t>。</a:t>
            </a:r>
            <a:endParaRPr lang="zh-TW" altLang="en-US" sz="3200" b="1" dirty="0">
              <a:solidFill>
                <a:srgbClr val="336600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文字方塊 5"/>
          <p:cNvSpPr txBox="1">
            <a:spLocks noChangeArrowheads="1"/>
          </p:cNvSpPr>
          <p:nvPr/>
        </p:nvSpPr>
        <p:spPr bwMode="auto">
          <a:xfrm>
            <a:off x="468313" y="476250"/>
            <a:ext cx="8675687" cy="1033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200000"/>
              </a:lnSpc>
            </a:pPr>
            <a:r>
              <a:rPr kumimoji="1" lang="en-US" altLang="zh-TW" sz="3600" b="1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BPCS/SIS</a:t>
            </a:r>
            <a:r>
              <a:rPr kumimoji="1" lang="en-US" altLang="zh-TW" sz="3600" b="1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 : </a:t>
            </a:r>
            <a:r>
              <a:rPr kumimoji="1" lang="zh-TW" altLang="en-US" sz="3600" b="1" dirty="0" smtClean="0">
                <a:solidFill>
                  <a:srgbClr val="990000"/>
                </a:solidFill>
                <a:latin typeface="標楷體" pitchFamily="65" charset="-120"/>
                <a:ea typeface="標楷體" pitchFamily="65" charset="-120"/>
              </a:rPr>
              <a:t>現在的分類</a:t>
            </a:r>
            <a:r>
              <a:rPr kumimoji="1" lang="en-US" altLang="zh-TW" sz="3600" b="1" dirty="0" smtClean="0">
                <a:solidFill>
                  <a:srgbClr val="990000"/>
                </a:solidFill>
                <a:latin typeface="標楷體" pitchFamily="65" charset="-120"/>
                <a:ea typeface="標楷體" pitchFamily="65" charset="-120"/>
              </a:rPr>
              <a:t>/</a:t>
            </a:r>
            <a:r>
              <a:rPr kumimoji="1" lang="zh-TW" altLang="en-US" sz="3600" b="1" dirty="0" smtClean="0">
                <a:solidFill>
                  <a:srgbClr val="990000"/>
                </a:solidFill>
                <a:latin typeface="標楷體" pitchFamily="65" charset="-120"/>
                <a:ea typeface="標楷體" pitchFamily="65" charset="-120"/>
              </a:rPr>
              <a:t>應用</a:t>
            </a:r>
            <a:endParaRPr kumimoji="1" lang="en-US" altLang="zh-TW" sz="3600" b="1" u="sng" dirty="0">
              <a:solidFill>
                <a:srgbClr val="6699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文字方塊 7"/>
          <p:cNvSpPr txBox="1">
            <a:spLocks noChangeArrowheads="1"/>
          </p:cNvSpPr>
          <p:nvPr/>
        </p:nvSpPr>
        <p:spPr bwMode="auto">
          <a:xfrm>
            <a:off x="0" y="2060848"/>
            <a:ext cx="8820472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742950" indent="-742950" eaLnBrk="1" hangingPunct="1">
              <a:spcBef>
                <a:spcPts val="2400"/>
              </a:spcBef>
              <a:buFont typeface="+mj-lt"/>
              <a:buAutoNum type="arabicPeriod"/>
            </a:pPr>
            <a:r>
              <a:rPr kumimoji="1" lang="en-US" altLang="zh-TW" sz="3600" b="1" dirty="0" smtClean="0">
                <a:solidFill>
                  <a:srgbClr val="7030A0"/>
                </a:solidFill>
                <a:latin typeface="標楷體" pitchFamily="65" charset="-120"/>
                <a:ea typeface="標楷體" pitchFamily="65" charset="-120"/>
              </a:rPr>
              <a:t>BPCS (Basic Process Control Systems)</a:t>
            </a:r>
            <a:r>
              <a:rPr kumimoji="1" lang="en-US" altLang="zh-TW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: DCS/PLC</a:t>
            </a:r>
            <a:r>
              <a:rPr kumimoji="1" lang="zh-TW" altLang="en-US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都能提供控制</a:t>
            </a:r>
            <a:r>
              <a:rPr kumimoji="1" lang="en-US" altLang="zh-TW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/</a:t>
            </a:r>
            <a:r>
              <a:rPr kumimoji="1" lang="zh-TW" altLang="en-US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連鎖</a:t>
            </a:r>
            <a:endParaRPr kumimoji="1" lang="en-US" altLang="zh-TW" sz="3600" b="1" dirty="0" smtClean="0">
              <a:solidFill>
                <a:srgbClr val="669900"/>
              </a:solidFill>
              <a:latin typeface="標楷體" pitchFamily="65" charset="-120"/>
              <a:ea typeface="標楷體" pitchFamily="65" charset="-120"/>
            </a:endParaRPr>
          </a:p>
          <a:p>
            <a:pPr marL="742950" indent="-742950" eaLnBrk="1" hangingPunct="1">
              <a:spcBef>
                <a:spcPts val="2400"/>
              </a:spcBef>
              <a:buFont typeface="+mj-lt"/>
              <a:buAutoNum type="arabicPeriod"/>
            </a:pPr>
            <a:r>
              <a:rPr kumimoji="1" lang="en-US" altLang="zh-TW" sz="3600" b="1" dirty="0" smtClean="0">
                <a:solidFill>
                  <a:srgbClr val="7030A0"/>
                </a:solidFill>
                <a:latin typeface="標楷體" pitchFamily="65" charset="-120"/>
                <a:ea typeface="標楷體" pitchFamily="65" charset="-120"/>
              </a:rPr>
              <a:t>SIS (Safety Instrumented System)</a:t>
            </a:r>
            <a:r>
              <a:rPr kumimoji="1" lang="en-US" altLang="zh-TW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:</a:t>
            </a:r>
            <a:r>
              <a:rPr kumimoji="1" lang="zh-TW" altLang="en-US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工廠跳車</a:t>
            </a:r>
            <a:r>
              <a:rPr kumimoji="1" lang="en-US" altLang="zh-TW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(Safety Integrity Level &gt;= 1)</a:t>
            </a:r>
            <a:r>
              <a:rPr kumimoji="1" lang="zh-TW" altLang="en-US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，須常做功能測試但應備而不用</a:t>
            </a:r>
            <a:endParaRPr kumimoji="1" lang="en-US" altLang="zh-TW" sz="3600" b="1" dirty="0">
              <a:solidFill>
                <a:srgbClr val="669900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文字方塊 5"/>
          <p:cNvSpPr txBox="1">
            <a:spLocks noChangeArrowheads="1"/>
          </p:cNvSpPr>
          <p:nvPr/>
        </p:nvSpPr>
        <p:spPr bwMode="auto">
          <a:xfrm>
            <a:off x="468313" y="476250"/>
            <a:ext cx="8352159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200000"/>
              </a:lnSpc>
            </a:pPr>
            <a:r>
              <a:rPr kumimoji="1" lang="en-US" altLang="zh-TW" sz="3600" b="1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BPCS/SIS</a:t>
            </a:r>
            <a:r>
              <a:rPr kumimoji="1" lang="en-US" altLang="zh-TW" sz="3600" b="1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 : </a:t>
            </a:r>
            <a:r>
              <a:rPr kumimoji="1" lang="en-US" altLang="zh-TW" sz="3600" b="1" dirty="0" smtClean="0">
                <a:solidFill>
                  <a:srgbClr val="990000"/>
                </a:solidFill>
                <a:latin typeface="標楷體" pitchFamily="65" charset="-120"/>
                <a:ea typeface="標楷體" pitchFamily="65" charset="-120"/>
              </a:rPr>
              <a:t>P&amp;ID</a:t>
            </a:r>
            <a:r>
              <a:rPr kumimoji="1" lang="zh-TW" altLang="en-US" sz="3600" b="1" dirty="0" smtClean="0">
                <a:solidFill>
                  <a:srgbClr val="990000"/>
                </a:solidFill>
                <a:latin typeface="標楷體" pitchFamily="65" charset="-120"/>
                <a:ea typeface="標楷體" pitchFamily="65" charset="-120"/>
              </a:rPr>
              <a:t>的標示及</a:t>
            </a:r>
            <a:r>
              <a:rPr kumimoji="1" lang="en-US" altLang="zh-TW" sz="3600" b="1" dirty="0" smtClean="0">
                <a:solidFill>
                  <a:srgbClr val="990000"/>
                </a:solidFill>
                <a:latin typeface="標楷體" pitchFamily="65" charset="-120"/>
                <a:ea typeface="標楷體" pitchFamily="65" charset="-120"/>
              </a:rPr>
              <a:t>Naming</a:t>
            </a:r>
            <a:endParaRPr kumimoji="1" lang="en-US" altLang="zh-TW" sz="3600" b="1" dirty="0">
              <a:solidFill>
                <a:srgbClr val="6699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5" name="文字方塊 4"/>
          <p:cNvSpPr txBox="1">
            <a:spLocks noChangeArrowheads="1"/>
          </p:cNvSpPr>
          <p:nvPr/>
        </p:nvSpPr>
        <p:spPr bwMode="auto">
          <a:xfrm>
            <a:off x="2051720" y="6165304"/>
            <a:ext cx="212910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400" dirty="0">
                <a:latin typeface="標楷體" pitchFamily="65" charset="-120"/>
                <a:ea typeface="標楷體" pitchFamily="65" charset="-120"/>
              </a:rPr>
              <a:t>(</a:t>
            </a:r>
            <a:r>
              <a:rPr lang="zh-TW" altLang="en-US" sz="1400" dirty="0">
                <a:latin typeface="標楷體" pitchFamily="65" charset="-120"/>
                <a:ea typeface="標楷體" pitchFamily="65" charset="-120"/>
              </a:rPr>
              <a:t>資料</a:t>
            </a:r>
            <a:r>
              <a:rPr lang="zh-TW" altLang="en-US" sz="1400" dirty="0" smtClean="0">
                <a:latin typeface="標楷體" pitchFamily="65" charset="-120"/>
                <a:ea typeface="標楷體" pitchFamily="65" charset="-120"/>
              </a:rPr>
              <a:t>來自</a:t>
            </a:r>
            <a:r>
              <a:rPr lang="en-US" altLang="zh-TW" sz="1400" dirty="0" smtClean="0">
                <a:latin typeface="標楷體" pitchFamily="65" charset="-120"/>
                <a:ea typeface="標楷體" pitchFamily="65" charset="-120"/>
              </a:rPr>
              <a:t>2009 ISA 5.1</a:t>
            </a:r>
            <a:r>
              <a:rPr lang="en-US" altLang="zh-TW" sz="1400" dirty="0" smtClean="0"/>
              <a:t>)</a:t>
            </a:r>
            <a:endParaRPr lang="zh-TW" altLang="en-US" sz="1400" dirty="0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27984" y="3428998"/>
            <a:ext cx="43910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3" cstate="print"/>
          <a:srcRect l="2392" t="4877" r="1595"/>
          <a:stretch>
            <a:fillRect/>
          </a:stretch>
        </p:blipFill>
        <p:spPr bwMode="auto">
          <a:xfrm>
            <a:off x="4464025" y="2060848"/>
            <a:ext cx="4334777" cy="14043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5220072" y="4437112"/>
          <a:ext cx="2903984" cy="1239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992"/>
                <a:gridCol w="1451992"/>
              </a:tblGrid>
              <a:tr h="41330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BPCS Tag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SIS Tag</a:t>
                      </a:r>
                      <a:endParaRPr lang="zh-TW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413304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FF00"/>
                          </a:solidFill>
                        </a:rPr>
                        <a:t>FT</a:t>
                      </a:r>
                      <a:endParaRPr lang="zh-TW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FF00"/>
                          </a:solidFill>
                        </a:rPr>
                        <a:t>FZT</a:t>
                      </a:r>
                      <a:endParaRPr lang="zh-TW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</a:tr>
              <a:tr h="413304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FF00"/>
                          </a:solidFill>
                        </a:rPr>
                        <a:t>XV</a:t>
                      </a:r>
                      <a:endParaRPr lang="zh-TW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rgbClr val="FFFF00"/>
                          </a:solidFill>
                        </a:rPr>
                        <a:t>XZV</a:t>
                      </a:r>
                      <a:endParaRPr lang="zh-TW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</a:tr>
            </a:tbl>
          </a:graphicData>
        </a:graphic>
      </p:graphicFrame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5957" y="1700808"/>
            <a:ext cx="4182786" cy="4387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圓角矩形 7"/>
          <p:cNvSpPr/>
          <p:nvPr/>
        </p:nvSpPr>
        <p:spPr bwMode="auto">
          <a:xfrm>
            <a:off x="899592" y="5157192"/>
            <a:ext cx="1584176" cy="864096"/>
          </a:xfrm>
          <a:prstGeom prst="roundRect">
            <a:avLst/>
          </a:prstGeom>
          <a:noFill/>
          <a:ln w="22225" cap="flat" cmpd="sng" algn="ctr">
            <a:solidFill>
              <a:srgbClr val="99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normalizeH="0" baseline="0" dirty="0" smtClean="0">
              <a:ln>
                <a:noFill/>
              </a:ln>
              <a:solidFill>
                <a:srgbClr val="800000"/>
              </a:solidFill>
              <a:effectLst/>
              <a:latin typeface="Arial" charset="0"/>
              <a:ea typeface="新細明體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文字方塊 5"/>
          <p:cNvSpPr txBox="1">
            <a:spLocks noChangeArrowheads="1"/>
          </p:cNvSpPr>
          <p:nvPr/>
        </p:nvSpPr>
        <p:spPr bwMode="auto">
          <a:xfrm>
            <a:off x="468313" y="476250"/>
            <a:ext cx="8352159" cy="1033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200000"/>
              </a:lnSpc>
            </a:pPr>
            <a:r>
              <a:rPr kumimoji="1" lang="en-US" altLang="zh-TW" sz="3600" b="1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DCS</a:t>
            </a:r>
            <a:r>
              <a:rPr kumimoji="1" lang="en-US" altLang="zh-TW" sz="3600" b="1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: </a:t>
            </a:r>
            <a:r>
              <a:rPr kumimoji="1" lang="en-US" altLang="zh-TW" sz="3600" b="1" dirty="0" smtClean="0">
                <a:solidFill>
                  <a:srgbClr val="990000"/>
                </a:solidFill>
                <a:latin typeface="標楷體" pitchFamily="65" charset="-120"/>
                <a:ea typeface="標楷體" pitchFamily="65" charset="-120"/>
              </a:rPr>
              <a:t>System Architecture</a:t>
            </a:r>
            <a:endParaRPr kumimoji="1" lang="en-US" altLang="zh-TW" sz="3600" b="1" dirty="0">
              <a:solidFill>
                <a:srgbClr val="990000"/>
              </a:solidFill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4" name="Picture 2" descr="cid:image001.png@01CCB4FC.6F111310"/>
          <p:cNvPicPr>
            <a:picLocks noChangeAspect="1" noChangeArrowheads="1"/>
          </p:cNvPicPr>
          <p:nvPr/>
        </p:nvPicPr>
        <p:blipFill>
          <a:blip r:embed="rId2" cstate="print"/>
          <a:srcRect t="9570"/>
          <a:stretch>
            <a:fillRect/>
          </a:stretch>
        </p:blipFill>
        <p:spPr bwMode="auto">
          <a:xfrm>
            <a:off x="0" y="1484784"/>
            <a:ext cx="8880921" cy="4558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 bwMode="auto">
          <a:xfrm>
            <a:off x="6660232" y="1484784"/>
            <a:ext cx="2232248" cy="21602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文字方塊 5"/>
          <p:cNvSpPr txBox="1">
            <a:spLocks noChangeArrowheads="1"/>
          </p:cNvSpPr>
          <p:nvPr/>
        </p:nvSpPr>
        <p:spPr bwMode="auto">
          <a:xfrm>
            <a:off x="468313" y="476250"/>
            <a:ext cx="8352159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200000"/>
              </a:lnSpc>
            </a:pPr>
            <a:r>
              <a:rPr kumimoji="1" lang="en-US" altLang="zh-TW" sz="3600" b="1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DCS</a:t>
            </a:r>
            <a:r>
              <a:rPr kumimoji="1" lang="en-US" altLang="zh-TW" sz="3600" b="1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: </a:t>
            </a:r>
            <a:r>
              <a:rPr kumimoji="1" lang="en-US" altLang="zh-TW" sz="3600" b="1" dirty="0" smtClean="0">
                <a:solidFill>
                  <a:srgbClr val="990000"/>
                </a:solidFill>
                <a:latin typeface="標楷體" pitchFamily="65" charset="-120"/>
                <a:ea typeface="標楷體" pitchFamily="65" charset="-120"/>
              </a:rPr>
              <a:t>Main Components </a:t>
            </a:r>
            <a:endParaRPr kumimoji="1" lang="en-US" altLang="zh-TW" sz="3600" b="1" dirty="0">
              <a:solidFill>
                <a:srgbClr val="99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8" name="文字方塊 7"/>
          <p:cNvSpPr txBox="1">
            <a:spLocks noChangeArrowheads="1"/>
          </p:cNvSpPr>
          <p:nvPr/>
        </p:nvSpPr>
        <p:spPr bwMode="auto">
          <a:xfrm>
            <a:off x="395536" y="1628800"/>
            <a:ext cx="8461448" cy="4555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742950" indent="-742950" eaLnBrk="1" hangingPunct="1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</a:pPr>
            <a:r>
              <a:rPr kumimoji="1" lang="en-US" altLang="zh-TW" sz="3600" b="1" kern="0" dirty="0" smtClean="0">
                <a:solidFill>
                  <a:srgbClr val="7030A0"/>
                </a:solidFill>
              </a:rPr>
              <a:t>Controller</a:t>
            </a:r>
            <a:endParaRPr kumimoji="1" lang="en-US" altLang="zh-TW" sz="3600" b="1" dirty="0" smtClean="0">
              <a:solidFill>
                <a:srgbClr val="669900"/>
              </a:solidFill>
              <a:latin typeface="標楷體" pitchFamily="65" charset="-120"/>
              <a:ea typeface="標楷體" pitchFamily="65" charset="-120"/>
            </a:endParaRPr>
          </a:p>
          <a:p>
            <a:pPr marL="742950" indent="-742950" eaLnBrk="1" hangingPunct="1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</a:pPr>
            <a:r>
              <a:rPr kumimoji="1" lang="en-US" altLang="zh-TW" sz="3600" b="1" kern="0" dirty="0" smtClean="0">
                <a:solidFill>
                  <a:srgbClr val="7030A0"/>
                </a:solidFill>
              </a:rPr>
              <a:t>Power Supply Unit:</a:t>
            </a:r>
            <a:r>
              <a:rPr kumimoji="1" lang="zh-TW" altLang="en-US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電源來自</a:t>
            </a:r>
            <a:r>
              <a:rPr kumimoji="1" lang="en-US" altLang="zh-TW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 UPS (Uninterruptable Power Supply)</a:t>
            </a:r>
          </a:p>
          <a:p>
            <a:pPr marL="742950" indent="-742950" eaLnBrk="1" hangingPunct="1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</a:pPr>
            <a:r>
              <a:rPr kumimoji="1" lang="en-US" altLang="zh-TW" sz="3600" b="1" kern="0" dirty="0" smtClean="0">
                <a:solidFill>
                  <a:srgbClr val="7030A0"/>
                </a:solidFill>
              </a:rPr>
              <a:t>Input and Output Modules: </a:t>
            </a:r>
            <a:r>
              <a:rPr kumimoji="1" lang="en-US" altLang="zh-TW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Redundant and Simplex I/O Cards</a:t>
            </a:r>
            <a:endParaRPr kumimoji="1" lang="en-US" altLang="zh-TW" sz="3600" b="1" dirty="0">
              <a:solidFill>
                <a:srgbClr val="669900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文字方塊 5"/>
          <p:cNvSpPr txBox="1">
            <a:spLocks noChangeArrowheads="1"/>
          </p:cNvSpPr>
          <p:nvPr/>
        </p:nvSpPr>
        <p:spPr bwMode="auto">
          <a:xfrm>
            <a:off x="468313" y="476250"/>
            <a:ext cx="4895775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200000"/>
              </a:lnSpc>
            </a:pPr>
            <a:r>
              <a:rPr kumimoji="1" lang="en-US" altLang="zh-TW" sz="3600" b="1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DCS</a:t>
            </a:r>
            <a:r>
              <a:rPr kumimoji="1" lang="en-US" altLang="zh-TW" sz="3600" b="1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: </a:t>
            </a:r>
            <a:r>
              <a:rPr kumimoji="1" lang="en-US" altLang="zh-TW" sz="3600" b="1" dirty="0" smtClean="0">
                <a:solidFill>
                  <a:srgbClr val="990000"/>
                </a:solidFill>
                <a:latin typeface="標楷體" pitchFamily="65" charset="-120"/>
                <a:ea typeface="標楷體" pitchFamily="65" charset="-120"/>
              </a:rPr>
              <a:t>System Cabinet</a:t>
            </a:r>
            <a:endParaRPr kumimoji="1" lang="en-US" altLang="zh-TW" sz="3600" b="1" dirty="0">
              <a:solidFill>
                <a:srgbClr val="99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6660232" y="1484784"/>
            <a:ext cx="2232248" cy="21602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  <p:pic>
        <p:nvPicPr>
          <p:cNvPr id="6" name="Picture 4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64088" y="908720"/>
            <a:ext cx="3518160" cy="5255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文字方塊 6"/>
          <p:cNvSpPr txBox="1">
            <a:spLocks noChangeArrowheads="1"/>
          </p:cNvSpPr>
          <p:nvPr/>
        </p:nvSpPr>
        <p:spPr bwMode="auto">
          <a:xfrm>
            <a:off x="251520" y="1700808"/>
            <a:ext cx="5400600" cy="4585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742950" indent="-742950" eaLnBrk="1" hangingPunct="1">
              <a:spcBef>
                <a:spcPts val="1200"/>
              </a:spcBef>
              <a:buFont typeface="+mj-lt"/>
              <a:buAutoNum type="arabicPeriod"/>
            </a:pPr>
            <a:r>
              <a:rPr kumimoji="1" lang="en-US" altLang="zh-TW" sz="3200" b="1" kern="0" dirty="0" smtClean="0">
                <a:solidFill>
                  <a:srgbClr val="7030A0"/>
                </a:solidFill>
              </a:rPr>
              <a:t>Analog Input : </a:t>
            </a:r>
            <a:r>
              <a:rPr kumimoji="1" lang="en-US" altLang="zh-TW" sz="32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LT/PT</a:t>
            </a:r>
            <a:endParaRPr kumimoji="1" lang="en-US" altLang="zh-TW" sz="3200" b="1" kern="0" dirty="0" smtClean="0">
              <a:solidFill>
                <a:srgbClr val="7030A0"/>
              </a:solidFill>
            </a:endParaRPr>
          </a:p>
          <a:p>
            <a:pPr marL="742950" indent="-742950" eaLnBrk="1" hangingPunct="1">
              <a:spcBef>
                <a:spcPts val="1200"/>
              </a:spcBef>
              <a:buFont typeface="+mj-lt"/>
              <a:buAutoNum type="arabicPeriod"/>
            </a:pPr>
            <a:r>
              <a:rPr kumimoji="1" lang="en-US" altLang="zh-TW" sz="3200" b="1" kern="0" dirty="0" smtClean="0">
                <a:solidFill>
                  <a:srgbClr val="7030A0"/>
                </a:solidFill>
              </a:rPr>
              <a:t>Analog Output : </a:t>
            </a:r>
            <a:r>
              <a:rPr kumimoji="1" lang="en-US" altLang="zh-TW" sz="32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LV/PV</a:t>
            </a:r>
            <a:endParaRPr kumimoji="1" lang="en-US" altLang="zh-TW" sz="3200" b="1" kern="0" dirty="0" smtClean="0">
              <a:solidFill>
                <a:srgbClr val="7030A0"/>
              </a:solidFill>
            </a:endParaRPr>
          </a:p>
          <a:p>
            <a:pPr marL="742950" indent="-742950" eaLnBrk="1" hangingPunct="1">
              <a:spcBef>
                <a:spcPts val="1200"/>
              </a:spcBef>
              <a:buFont typeface="+mj-lt"/>
              <a:buAutoNum type="arabicPeriod"/>
            </a:pPr>
            <a:r>
              <a:rPr kumimoji="1" lang="en-US" altLang="zh-TW" sz="3200" b="1" kern="0" dirty="0" smtClean="0">
                <a:solidFill>
                  <a:srgbClr val="7030A0"/>
                </a:solidFill>
              </a:rPr>
              <a:t>Digital Input: </a:t>
            </a:r>
            <a:r>
              <a:rPr kumimoji="1" lang="en-US" altLang="zh-TW" sz="32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LS/PS</a:t>
            </a:r>
          </a:p>
          <a:p>
            <a:pPr marL="742950" indent="-742950" eaLnBrk="1" hangingPunct="1">
              <a:spcBef>
                <a:spcPts val="1200"/>
              </a:spcBef>
              <a:buFont typeface="+mj-lt"/>
              <a:buAutoNum type="arabicPeriod"/>
            </a:pPr>
            <a:r>
              <a:rPr kumimoji="1" lang="en-US" altLang="zh-TW" sz="3200" b="1" kern="0" dirty="0" smtClean="0">
                <a:solidFill>
                  <a:srgbClr val="7030A0"/>
                </a:solidFill>
              </a:rPr>
              <a:t>Digital Output:</a:t>
            </a:r>
            <a:r>
              <a:rPr kumimoji="1" lang="zh-TW" altLang="en-US" sz="32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電磁閥</a:t>
            </a:r>
            <a:endParaRPr kumimoji="1" lang="en-US" altLang="zh-TW" sz="3200" b="1" dirty="0" smtClean="0">
              <a:solidFill>
                <a:srgbClr val="669900"/>
              </a:solidFill>
              <a:latin typeface="標楷體" pitchFamily="65" charset="-120"/>
              <a:ea typeface="標楷體" pitchFamily="65" charset="-120"/>
            </a:endParaRPr>
          </a:p>
          <a:p>
            <a:pPr marL="742950" indent="-742950" eaLnBrk="1" hangingPunct="1">
              <a:spcBef>
                <a:spcPts val="1200"/>
              </a:spcBef>
              <a:buFont typeface="+mj-lt"/>
              <a:buAutoNum type="arabicPeriod"/>
            </a:pPr>
            <a:r>
              <a:rPr kumimoji="1" lang="en-US" altLang="zh-TW" sz="3200" b="1" kern="0" dirty="0" smtClean="0">
                <a:solidFill>
                  <a:srgbClr val="7030A0"/>
                </a:solidFill>
              </a:rPr>
              <a:t>RTD, T/C Cards: </a:t>
            </a:r>
            <a:r>
              <a:rPr kumimoji="1" lang="en-US" altLang="zh-TW" sz="32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TE</a:t>
            </a:r>
          </a:p>
          <a:p>
            <a:pPr marL="742950" indent="-742950" eaLnBrk="1" hangingPunct="1">
              <a:spcBef>
                <a:spcPts val="1200"/>
              </a:spcBef>
              <a:buFont typeface="+mj-lt"/>
              <a:buAutoNum type="arabicPeriod"/>
            </a:pPr>
            <a:r>
              <a:rPr kumimoji="1" lang="en-US" altLang="zh-TW" sz="3200" b="1" kern="0" dirty="0" smtClean="0">
                <a:solidFill>
                  <a:srgbClr val="7030A0"/>
                </a:solidFill>
              </a:rPr>
              <a:t>Foundation </a:t>
            </a:r>
            <a:r>
              <a:rPr kumimoji="1" lang="en-US" altLang="zh-TW" sz="3200" b="1" kern="0" dirty="0" err="1" smtClean="0">
                <a:solidFill>
                  <a:srgbClr val="7030A0"/>
                </a:solidFill>
              </a:rPr>
              <a:t>Fieldbus</a:t>
            </a:r>
            <a:endParaRPr kumimoji="1" lang="en-US" altLang="zh-TW" sz="3200" b="1" kern="0" dirty="0" smtClean="0">
              <a:solidFill>
                <a:srgbClr val="7030A0"/>
              </a:solidFill>
            </a:endParaRPr>
          </a:p>
          <a:p>
            <a:pPr marL="742950" indent="-742950" eaLnBrk="1" hangingPunct="1">
              <a:spcBef>
                <a:spcPts val="1200"/>
              </a:spcBef>
              <a:buFont typeface="+mj-lt"/>
              <a:buAutoNum type="arabicPeriod"/>
            </a:pPr>
            <a:r>
              <a:rPr kumimoji="1" lang="en-US" altLang="zh-TW" sz="3200" b="1" kern="0" dirty="0" smtClean="0">
                <a:solidFill>
                  <a:srgbClr val="7030A0"/>
                </a:solidFill>
              </a:rPr>
              <a:t>Serial Interface Card</a:t>
            </a:r>
            <a:endParaRPr kumimoji="1" lang="en-US" altLang="zh-TW" sz="3200" b="1" dirty="0">
              <a:solidFill>
                <a:srgbClr val="669900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文字方塊 5"/>
          <p:cNvSpPr txBox="1">
            <a:spLocks noChangeArrowheads="1"/>
          </p:cNvSpPr>
          <p:nvPr/>
        </p:nvSpPr>
        <p:spPr bwMode="auto">
          <a:xfrm>
            <a:off x="468313" y="476250"/>
            <a:ext cx="8352159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200000"/>
              </a:lnSpc>
            </a:pPr>
            <a:r>
              <a:rPr kumimoji="1" lang="en-US" altLang="zh-TW" sz="3600" b="1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DCS</a:t>
            </a:r>
            <a:r>
              <a:rPr kumimoji="1" lang="en-US" altLang="zh-TW" sz="3600" b="1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: </a:t>
            </a:r>
            <a:r>
              <a:rPr kumimoji="1" lang="en-US" altLang="zh-TW" sz="3600" b="1" dirty="0" smtClean="0">
                <a:solidFill>
                  <a:srgbClr val="990000"/>
                </a:solidFill>
                <a:latin typeface="標楷體" pitchFamily="65" charset="-120"/>
                <a:ea typeface="標楷體" pitchFamily="65" charset="-120"/>
              </a:rPr>
              <a:t>Foundation </a:t>
            </a:r>
            <a:r>
              <a:rPr kumimoji="1" lang="en-US" altLang="zh-TW" sz="3600" b="1" dirty="0" err="1" smtClean="0">
                <a:solidFill>
                  <a:srgbClr val="990000"/>
                </a:solidFill>
                <a:latin typeface="標楷體" pitchFamily="65" charset="-120"/>
                <a:ea typeface="標楷體" pitchFamily="65" charset="-120"/>
              </a:rPr>
              <a:t>Fieldbus</a:t>
            </a:r>
            <a:r>
              <a:rPr kumimoji="1" lang="en-US" altLang="zh-TW" sz="3600" b="1" dirty="0" smtClean="0">
                <a:solidFill>
                  <a:srgbClr val="990000"/>
                </a:solidFill>
                <a:latin typeface="標楷體" pitchFamily="65" charset="-120"/>
                <a:ea typeface="標楷體" pitchFamily="65" charset="-120"/>
              </a:rPr>
              <a:t> (FF DCS)</a:t>
            </a:r>
            <a:endParaRPr kumimoji="1" lang="en-US" altLang="zh-TW" sz="3600" b="1" dirty="0">
              <a:solidFill>
                <a:srgbClr val="990000"/>
              </a:solidFill>
              <a:latin typeface="標楷體" pitchFamily="65" charset="-120"/>
              <a:ea typeface="標楷體" pitchFamily="65" charset="-120"/>
            </a:endParaRP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2924175" y="1700808"/>
          <a:ext cx="6219825" cy="2692400"/>
        </p:xfrm>
        <a:graphic>
          <a:graphicData uri="http://schemas.openxmlformats.org/presentationml/2006/ole">
            <p:oleObj spid="_x0000_s1026" name="Visio" r:id="rId3" imgW="6219139" imgH="2691994" progId="">
              <p:embed/>
            </p:oleObj>
          </a:graphicData>
        </a:graphic>
      </p:graphicFrame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3645024"/>
            <a:ext cx="3819525" cy="241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" name="直線接點 9"/>
          <p:cNvCxnSpPr/>
          <p:nvPr/>
        </p:nvCxnSpPr>
        <p:spPr bwMode="auto">
          <a:xfrm>
            <a:off x="1691680" y="1772816"/>
            <a:ext cx="5688632" cy="4464496"/>
          </a:xfrm>
          <a:prstGeom prst="line">
            <a:avLst/>
          </a:prstGeom>
          <a:solidFill>
            <a:schemeClr val="accent1"/>
          </a:solidFill>
          <a:ln w="19050" cap="flat" cmpd="thickThin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文字方塊 7"/>
          <p:cNvSpPr txBox="1">
            <a:spLocks noChangeArrowheads="1"/>
          </p:cNvSpPr>
          <p:nvPr/>
        </p:nvSpPr>
        <p:spPr bwMode="auto">
          <a:xfrm>
            <a:off x="251520" y="2780929"/>
            <a:ext cx="2088232" cy="584775"/>
          </a:xfrm>
          <a:prstGeom prst="rect">
            <a:avLst/>
          </a:prstGeom>
          <a:solidFill>
            <a:srgbClr val="FFFF99"/>
          </a:solidFill>
          <a:ln w="9525">
            <a:solidFill>
              <a:srgbClr val="336600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prst="convex"/>
          </a:sp3d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sz="3200" b="1" dirty="0" smtClean="0">
                <a:solidFill>
                  <a:srgbClr val="800000"/>
                </a:solidFill>
                <a:latin typeface="標楷體" pitchFamily="65" charset="-120"/>
                <a:ea typeface="標楷體" pitchFamily="65" charset="-120"/>
              </a:rPr>
              <a:t>傳統</a:t>
            </a:r>
            <a:r>
              <a:rPr lang="en-US" altLang="zh-TW" sz="3200" b="1" dirty="0" smtClean="0">
                <a:solidFill>
                  <a:srgbClr val="800000"/>
                </a:solidFill>
              </a:rPr>
              <a:t>DCS</a:t>
            </a:r>
            <a:endParaRPr lang="zh-TW" altLang="en-US" sz="3200" b="1" dirty="0">
              <a:solidFill>
                <a:srgbClr val="800000"/>
              </a:solidFill>
            </a:endParaRPr>
          </a:p>
        </p:txBody>
      </p:sp>
      <p:sp>
        <p:nvSpPr>
          <p:cNvPr id="13" name="文字方塊 7"/>
          <p:cNvSpPr txBox="1">
            <a:spLocks noChangeArrowheads="1"/>
          </p:cNvSpPr>
          <p:nvPr/>
        </p:nvSpPr>
        <p:spPr bwMode="auto">
          <a:xfrm>
            <a:off x="6588224" y="4509120"/>
            <a:ext cx="2555776" cy="1077218"/>
          </a:xfrm>
          <a:prstGeom prst="rect">
            <a:avLst/>
          </a:prstGeom>
          <a:solidFill>
            <a:srgbClr val="FFCCFF"/>
          </a:solidFill>
          <a:ln w="9525">
            <a:solidFill>
              <a:srgbClr val="336600"/>
            </a:solidFill>
            <a:miter lim="800000"/>
            <a:headEnd/>
            <a:tailEnd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 prst="convex"/>
          </a:sp3d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TW" altLang="en-US" sz="3200" b="1" dirty="0" smtClean="0">
                <a:solidFill>
                  <a:srgbClr val="800000"/>
                </a:solidFill>
                <a:latin typeface="+mj-lt"/>
                <a:ea typeface="標楷體" pitchFamily="65" charset="-120"/>
              </a:rPr>
              <a:t>省線</a:t>
            </a:r>
            <a:r>
              <a:rPr lang="en-US" altLang="zh-TW" sz="3200" b="1" dirty="0" smtClean="0">
                <a:solidFill>
                  <a:srgbClr val="800000"/>
                </a:solidFill>
                <a:latin typeface="+mj-lt"/>
                <a:ea typeface="標楷體" pitchFamily="65" charset="-120"/>
              </a:rPr>
              <a:t>&amp;</a:t>
            </a:r>
            <a:r>
              <a:rPr lang="en-US" altLang="zh-TW" sz="3200" b="1" dirty="0" smtClean="0">
                <a:solidFill>
                  <a:srgbClr val="800000"/>
                </a:solidFill>
                <a:latin typeface="+mj-lt"/>
                <a:ea typeface="標楷體" pitchFamily="65" charset="-120"/>
              </a:rPr>
              <a:t> I/O, More </a:t>
            </a:r>
            <a:r>
              <a:rPr lang="en-US" altLang="zh-TW" sz="3200" b="1" dirty="0" smtClean="0">
                <a:solidFill>
                  <a:srgbClr val="800000"/>
                </a:solidFill>
                <a:latin typeface="+mj-lt"/>
                <a:ea typeface="標楷體" pitchFamily="65" charset="-120"/>
              </a:rPr>
              <a:t>Data</a:t>
            </a:r>
            <a:endParaRPr lang="zh-TW" altLang="en-US" sz="3200" b="1" dirty="0">
              <a:solidFill>
                <a:srgbClr val="FF0000"/>
              </a:solidFill>
              <a:latin typeface="+mj-lt"/>
              <a:ea typeface="標楷體" pitchFamily="65" charset="-120"/>
            </a:endParaRPr>
          </a:p>
        </p:txBody>
      </p:sp>
      <p:sp>
        <p:nvSpPr>
          <p:cNvPr id="15" name="文字方塊 8"/>
          <p:cNvSpPr txBox="1">
            <a:spLocks noChangeArrowheads="1"/>
          </p:cNvSpPr>
          <p:nvPr/>
        </p:nvSpPr>
        <p:spPr bwMode="auto">
          <a:xfrm>
            <a:off x="4572000" y="3573016"/>
            <a:ext cx="223224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 smtClean="0">
                <a:solidFill>
                  <a:srgbClr val="800000"/>
                </a:solidFill>
              </a:rPr>
              <a:t>Single Pair Cable</a:t>
            </a:r>
            <a:endParaRPr lang="zh-TW" altLang="en-US" sz="2000" b="1" dirty="0">
              <a:solidFill>
                <a:srgbClr val="800000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文字方塊 5"/>
          <p:cNvSpPr txBox="1">
            <a:spLocks noChangeArrowheads="1"/>
          </p:cNvSpPr>
          <p:nvPr/>
        </p:nvSpPr>
        <p:spPr bwMode="auto">
          <a:xfrm>
            <a:off x="468313" y="476250"/>
            <a:ext cx="8352159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200000"/>
              </a:lnSpc>
            </a:pPr>
            <a:r>
              <a:rPr kumimoji="1" lang="en-US" altLang="zh-TW" sz="3600" b="1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DCS</a:t>
            </a:r>
            <a:r>
              <a:rPr kumimoji="1" lang="en-US" altLang="zh-TW" sz="3600" b="1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: </a:t>
            </a:r>
            <a:r>
              <a:rPr kumimoji="1" lang="en-US" altLang="zh-TW" sz="3600" b="1" dirty="0" smtClean="0">
                <a:solidFill>
                  <a:srgbClr val="990000"/>
                </a:solidFill>
                <a:latin typeface="標楷體" pitchFamily="65" charset="-120"/>
                <a:ea typeface="標楷體" pitchFamily="65" charset="-120"/>
              </a:rPr>
              <a:t>FF DCS CIF</a:t>
            </a:r>
            <a:r>
              <a:rPr kumimoji="1" lang="zh-TW" altLang="en-US" sz="3600" b="1" dirty="0" smtClean="0">
                <a:solidFill>
                  <a:srgbClr val="990000"/>
                </a:solidFill>
                <a:latin typeface="標楷體" pitchFamily="65" charset="-120"/>
                <a:ea typeface="標楷體" pitchFamily="65" charset="-120"/>
              </a:rPr>
              <a:t>分散風險</a:t>
            </a:r>
            <a:r>
              <a:rPr kumimoji="1" lang="en-US" altLang="zh-TW" sz="3600" b="1" dirty="0" smtClean="0">
                <a:solidFill>
                  <a:srgbClr val="990000"/>
                </a:solidFill>
                <a:latin typeface="標楷體" pitchFamily="65" charset="-120"/>
                <a:ea typeface="標楷體" pitchFamily="65" charset="-120"/>
              </a:rPr>
              <a:t>/</a:t>
            </a:r>
            <a:r>
              <a:rPr kumimoji="1" lang="zh-TW" altLang="en-US" sz="3600" b="1" dirty="0" smtClean="0">
                <a:solidFill>
                  <a:srgbClr val="990000"/>
                </a:solidFill>
                <a:latin typeface="標楷體" pitchFamily="65" charset="-120"/>
                <a:ea typeface="標楷體" pitchFamily="65" charset="-120"/>
              </a:rPr>
              <a:t>儀表預保</a:t>
            </a:r>
            <a:endParaRPr kumimoji="1" lang="en-US" altLang="zh-TW" sz="3600" b="1" dirty="0">
              <a:solidFill>
                <a:srgbClr val="990000"/>
              </a:solidFill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0" y="1700808"/>
            <a:ext cx="6444208" cy="4418987"/>
          </a:xfrm>
          <a:prstGeom prst="rect">
            <a:avLst/>
          </a:prstGeom>
          <a:noFill/>
          <a:ln/>
        </p:spPr>
      </p:pic>
      <p:sp>
        <p:nvSpPr>
          <p:cNvPr id="4" name="文字方塊 7"/>
          <p:cNvSpPr txBox="1">
            <a:spLocks noChangeArrowheads="1"/>
          </p:cNvSpPr>
          <p:nvPr/>
        </p:nvSpPr>
        <p:spPr bwMode="auto">
          <a:xfrm>
            <a:off x="6444208" y="1700808"/>
            <a:ext cx="2376264" cy="2215991"/>
          </a:xfrm>
          <a:prstGeom prst="rect">
            <a:avLst/>
          </a:prstGeom>
          <a:solidFill>
            <a:srgbClr val="FFFFCC"/>
          </a:solidFill>
          <a:ln w="9525">
            <a:solidFill>
              <a:srgbClr val="FFFF99"/>
            </a:solidFill>
            <a:miter lim="800000"/>
            <a:headEnd/>
            <a:tailEnd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 prst="convex"/>
          </a:sp3d>
        </p:spPr>
        <p:txBody>
          <a:bodyPr wrap="square">
            <a:spAutoFit/>
          </a:bodyPr>
          <a:lstStyle/>
          <a:p>
            <a:pPr marL="514350" indent="-514350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/>
            </a:pPr>
            <a:r>
              <a:rPr lang="en-US" altLang="zh-TW" sz="3200" b="1" dirty="0" smtClean="0">
                <a:solidFill>
                  <a:srgbClr val="7030A0"/>
                </a:solidFill>
                <a:latin typeface="標楷體" pitchFamily="65" charset="-120"/>
                <a:ea typeface="標楷體" pitchFamily="65" charset="-120"/>
              </a:rPr>
              <a:t>Control In Field (CIF)</a:t>
            </a:r>
          </a:p>
          <a:p>
            <a:pPr marL="514350" indent="-514350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/>
            </a:pPr>
            <a:r>
              <a:rPr lang="zh-TW" altLang="en-US" sz="3200" b="1" dirty="0" smtClean="0">
                <a:solidFill>
                  <a:srgbClr val="7030A0"/>
                </a:solidFill>
                <a:latin typeface="標楷體" pitchFamily="65" charset="-120"/>
                <a:ea typeface="標楷體" pitchFamily="65" charset="-120"/>
              </a:rPr>
              <a:t>診斷功能</a:t>
            </a:r>
            <a:endParaRPr lang="zh-TW" altLang="en-US" sz="3200" b="1" dirty="0">
              <a:solidFill>
                <a:srgbClr val="7030A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5" name="文字方塊 7"/>
          <p:cNvSpPr txBox="1">
            <a:spLocks noChangeArrowheads="1"/>
          </p:cNvSpPr>
          <p:nvPr/>
        </p:nvSpPr>
        <p:spPr bwMode="auto">
          <a:xfrm>
            <a:off x="6444208" y="4149080"/>
            <a:ext cx="2484784" cy="1938992"/>
          </a:xfrm>
          <a:prstGeom prst="rect">
            <a:avLst/>
          </a:prstGeom>
          <a:solidFill>
            <a:srgbClr val="FFCCFF"/>
          </a:solidFill>
          <a:ln w="9525">
            <a:solidFill>
              <a:srgbClr val="336600"/>
            </a:solidFill>
            <a:miter lim="800000"/>
            <a:headEnd/>
            <a:tailEnd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 prst="convex"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TW" sz="2400" b="1" dirty="0" smtClean="0">
                <a:solidFill>
                  <a:srgbClr val="800000"/>
                </a:solidFill>
                <a:latin typeface="+mj-lt"/>
                <a:ea typeface="標楷體" pitchFamily="65" charset="-120"/>
              </a:rPr>
              <a:t>HART (Highway Addressable Remote Transducer)</a:t>
            </a:r>
            <a:r>
              <a:rPr lang="zh-TW" altLang="en-US" sz="2400" b="1" dirty="0" smtClean="0">
                <a:solidFill>
                  <a:srgbClr val="800000"/>
                </a:solidFill>
                <a:latin typeface="+mj-lt"/>
                <a:ea typeface="標楷體" pitchFamily="65" charset="-120"/>
              </a:rPr>
              <a:t> 儀表也有診斷功能</a:t>
            </a:r>
            <a:endParaRPr lang="zh-TW" altLang="en-US" sz="2400" b="1" dirty="0">
              <a:solidFill>
                <a:srgbClr val="FF0000"/>
              </a:solidFill>
              <a:latin typeface="+mj-lt"/>
              <a:ea typeface="標楷體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文字方塊 5"/>
          <p:cNvSpPr txBox="1">
            <a:spLocks noChangeArrowheads="1"/>
          </p:cNvSpPr>
          <p:nvPr/>
        </p:nvSpPr>
        <p:spPr bwMode="auto">
          <a:xfrm>
            <a:off x="468313" y="476250"/>
            <a:ext cx="8352159" cy="1033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200000"/>
              </a:lnSpc>
            </a:pPr>
            <a:r>
              <a:rPr kumimoji="1" lang="en-US" altLang="zh-TW" sz="3600" b="1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DCS</a:t>
            </a:r>
            <a:r>
              <a:rPr kumimoji="1" lang="en-US" altLang="zh-TW" sz="3600" b="1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: </a:t>
            </a:r>
            <a:r>
              <a:rPr kumimoji="1" lang="en-US" altLang="zh-TW" sz="3600" b="1" dirty="0" smtClean="0">
                <a:solidFill>
                  <a:srgbClr val="990000"/>
                </a:solidFill>
                <a:latin typeface="標楷體" pitchFamily="65" charset="-120"/>
                <a:ea typeface="標楷體" pitchFamily="65" charset="-120"/>
              </a:rPr>
              <a:t>AMS (Asset Management System)</a:t>
            </a:r>
            <a:endParaRPr kumimoji="1" lang="en-US" altLang="zh-TW" sz="3600" b="1" dirty="0">
              <a:solidFill>
                <a:srgbClr val="990000"/>
              </a:solidFill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5" name="Picture 1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628800"/>
            <a:ext cx="7297060" cy="4430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" name="Group 17"/>
          <p:cNvGrpSpPr>
            <a:grpSpLocks/>
          </p:cNvGrpSpPr>
          <p:nvPr/>
        </p:nvGrpSpPr>
        <p:grpSpPr bwMode="auto">
          <a:xfrm>
            <a:off x="2843808" y="1556792"/>
            <a:ext cx="5524500" cy="3767138"/>
            <a:chOff x="2101" y="794"/>
            <a:chExt cx="3480" cy="2373"/>
          </a:xfrm>
        </p:grpSpPr>
        <p:grpSp>
          <p:nvGrpSpPr>
            <p:cNvPr id="8" name="Group 18"/>
            <p:cNvGrpSpPr>
              <a:grpSpLocks/>
            </p:cNvGrpSpPr>
            <p:nvPr/>
          </p:nvGrpSpPr>
          <p:grpSpPr bwMode="auto">
            <a:xfrm>
              <a:off x="2101" y="943"/>
              <a:ext cx="3480" cy="2224"/>
              <a:chOff x="2101" y="923"/>
              <a:chExt cx="3480" cy="2224"/>
            </a:xfrm>
          </p:grpSpPr>
          <p:grpSp>
            <p:nvGrpSpPr>
              <p:cNvPr id="10" name="Group 19"/>
              <p:cNvGrpSpPr>
                <a:grpSpLocks/>
              </p:cNvGrpSpPr>
              <p:nvPr/>
            </p:nvGrpSpPr>
            <p:grpSpPr bwMode="auto">
              <a:xfrm>
                <a:off x="4143" y="923"/>
                <a:ext cx="1314" cy="923"/>
                <a:chOff x="4416" y="715"/>
                <a:chExt cx="1314" cy="923"/>
              </a:xfrm>
            </p:grpSpPr>
            <p:sp>
              <p:nvSpPr>
                <p:cNvPr id="12" name="AutoShape 20"/>
                <p:cNvSpPr>
                  <a:spLocks noChangeArrowheads="1"/>
                </p:cNvSpPr>
                <p:nvPr/>
              </p:nvSpPr>
              <p:spPr bwMode="auto">
                <a:xfrm flipV="1">
                  <a:off x="5075" y="715"/>
                  <a:ext cx="374" cy="634"/>
                </a:xfrm>
                <a:prstGeom prst="downArrow">
                  <a:avLst>
                    <a:gd name="adj1" fmla="val 50000"/>
                    <a:gd name="adj2" fmla="val 42380"/>
                  </a:avLst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>
                  <a:outerShdw dist="71842" dir="2700000" algn="ctr" rotWithShape="0">
                    <a:schemeClr val="tx2"/>
                  </a:outerShdw>
                </a:effectLst>
              </p:spPr>
              <p:txBody>
                <a:bodyPr wrap="none" anchor="ctr">
                  <a:spAutoFit/>
                </a:bodyPr>
                <a:lstStyle/>
                <a:p>
                  <a:pPr>
                    <a:defRPr/>
                  </a:pPr>
                  <a:endParaRPr lang="zh-TW" altLang="en-US">
                    <a:ea typeface="新細明體" pitchFamily="18" charset="-120"/>
                  </a:endParaRPr>
                </a:p>
              </p:txBody>
            </p:sp>
            <p:sp>
              <p:nvSpPr>
                <p:cNvPr id="13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4416" y="1401"/>
                  <a:ext cx="1314" cy="237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altLang="zh-TW" sz="1800" b="1">
                      <a:solidFill>
                        <a:schemeClr val="tx1"/>
                      </a:solidFill>
                      <a:ea typeface="新細明體" pitchFamily="18" charset="-120"/>
                    </a:rPr>
                    <a:t>Decision Support</a:t>
                  </a:r>
                </a:p>
              </p:txBody>
            </p:sp>
          </p:grpSp>
          <p:pic>
            <p:nvPicPr>
              <p:cNvPr id="11" name="Picture 22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 r="2026" b="5318"/>
              <a:stretch>
                <a:fillRect/>
              </a:stretch>
            </p:blipFill>
            <p:spPr bwMode="auto">
              <a:xfrm>
                <a:off x="2101" y="1865"/>
                <a:ext cx="3480" cy="12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</p:pic>
        </p:grpSp>
        <p:sp>
          <p:nvSpPr>
            <p:cNvPr id="9" name="Oval 23"/>
            <p:cNvSpPr>
              <a:spLocks noChangeArrowheads="1"/>
            </p:cNvSpPr>
            <p:nvPr/>
          </p:nvSpPr>
          <p:spPr bwMode="auto">
            <a:xfrm>
              <a:off x="4886" y="794"/>
              <a:ext cx="238" cy="179"/>
            </a:xfrm>
            <a:prstGeom prst="ellips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TW" altLang="en-US">
                <a:ea typeface="新細明體" pitchFamily="18" charset="-120"/>
              </a:endParaRPr>
            </a:p>
          </p:txBody>
        </p:sp>
      </p:grpSp>
      <p:sp>
        <p:nvSpPr>
          <p:cNvPr id="14" name="文字方塊 7"/>
          <p:cNvSpPr txBox="1">
            <a:spLocks noChangeArrowheads="1"/>
          </p:cNvSpPr>
          <p:nvPr/>
        </p:nvSpPr>
        <p:spPr bwMode="auto">
          <a:xfrm>
            <a:off x="1331640" y="5589240"/>
            <a:ext cx="6336704" cy="523220"/>
          </a:xfrm>
          <a:prstGeom prst="rect">
            <a:avLst/>
          </a:prstGeom>
          <a:solidFill>
            <a:srgbClr val="FFCCFF"/>
          </a:solidFill>
          <a:ln w="9525">
            <a:solidFill>
              <a:srgbClr val="336600"/>
            </a:solidFill>
            <a:miter lim="800000"/>
            <a:headEnd/>
            <a:tailEnd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 prst="convex"/>
          </a:sp3d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TW" sz="2800" b="1" dirty="0" smtClean="0">
                <a:solidFill>
                  <a:srgbClr val="800000"/>
                </a:solidFill>
                <a:latin typeface="+mj-lt"/>
                <a:ea typeface="標楷體" pitchFamily="65" charset="-120"/>
              </a:rPr>
              <a:t>FF/HART </a:t>
            </a:r>
            <a:r>
              <a:rPr lang="zh-TW" altLang="en-US" sz="2800" b="1" dirty="0" smtClean="0">
                <a:solidFill>
                  <a:srgbClr val="800000"/>
                </a:solidFill>
                <a:latin typeface="+mj-lt"/>
                <a:ea typeface="標楷體" pitchFamily="65" charset="-120"/>
              </a:rPr>
              <a:t>儀表在</a:t>
            </a:r>
            <a:r>
              <a:rPr lang="en-US" altLang="zh-TW" sz="2800" b="1" dirty="0" smtClean="0">
                <a:solidFill>
                  <a:srgbClr val="800000"/>
                </a:solidFill>
                <a:latin typeface="+mj-lt"/>
                <a:ea typeface="標楷體" pitchFamily="65" charset="-120"/>
              </a:rPr>
              <a:t>AMS</a:t>
            </a:r>
            <a:r>
              <a:rPr lang="zh-TW" altLang="en-US" sz="2800" b="1" dirty="0" smtClean="0">
                <a:solidFill>
                  <a:srgbClr val="800000"/>
                </a:solidFill>
                <a:latin typeface="+mj-lt"/>
                <a:ea typeface="標楷體" pitchFamily="65" charset="-120"/>
              </a:rPr>
              <a:t>皆可診斷、規畫</a:t>
            </a:r>
            <a:endParaRPr lang="zh-TW" altLang="en-US" sz="2800" b="1" dirty="0">
              <a:solidFill>
                <a:srgbClr val="FF0000"/>
              </a:solidFill>
              <a:latin typeface="+mj-lt"/>
              <a:ea typeface="標楷體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文字方塊 5"/>
          <p:cNvSpPr txBox="1">
            <a:spLocks noChangeArrowheads="1"/>
          </p:cNvSpPr>
          <p:nvPr/>
        </p:nvSpPr>
        <p:spPr bwMode="auto">
          <a:xfrm>
            <a:off x="468313" y="476250"/>
            <a:ext cx="8352159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200000"/>
              </a:lnSpc>
            </a:pPr>
            <a:r>
              <a:rPr kumimoji="1" lang="en-US" altLang="zh-TW" sz="3600" b="1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DCS</a:t>
            </a:r>
            <a:r>
              <a:rPr kumimoji="1" lang="en-US" altLang="zh-TW" sz="3600" b="1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: </a:t>
            </a:r>
            <a:r>
              <a:rPr kumimoji="1" lang="zh-TW" altLang="en-US" sz="3600" b="1" dirty="0" smtClean="0">
                <a:solidFill>
                  <a:srgbClr val="990000"/>
                </a:solidFill>
                <a:latin typeface="標楷體" pitchFamily="65" charset="-120"/>
                <a:ea typeface="標楷體" pitchFamily="65" charset="-120"/>
              </a:rPr>
              <a:t>人機介面</a:t>
            </a:r>
            <a:r>
              <a:rPr kumimoji="1" lang="en-US" altLang="zh-TW" sz="3600" b="1" dirty="0" smtClean="0">
                <a:solidFill>
                  <a:srgbClr val="990000"/>
                </a:solidFill>
                <a:latin typeface="標楷體" pitchFamily="65" charset="-120"/>
                <a:ea typeface="標楷體" pitchFamily="65" charset="-120"/>
              </a:rPr>
              <a:t>/</a:t>
            </a:r>
            <a:r>
              <a:rPr kumimoji="1" lang="zh-TW" altLang="en-US" sz="3600" b="1" dirty="0" smtClean="0">
                <a:solidFill>
                  <a:srgbClr val="990000"/>
                </a:solidFill>
                <a:latin typeface="標楷體" pitchFamily="65" charset="-120"/>
                <a:ea typeface="標楷體" pitchFamily="65" charset="-120"/>
              </a:rPr>
              <a:t>操作畫面</a:t>
            </a:r>
            <a:endParaRPr kumimoji="1" lang="en-US" altLang="zh-TW" sz="3600" b="1" dirty="0">
              <a:solidFill>
                <a:srgbClr val="990000"/>
              </a:solidFill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628800"/>
            <a:ext cx="6604103" cy="4536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文字方塊 7"/>
          <p:cNvSpPr txBox="1">
            <a:spLocks noChangeArrowheads="1"/>
          </p:cNvSpPr>
          <p:nvPr/>
        </p:nvSpPr>
        <p:spPr bwMode="auto">
          <a:xfrm>
            <a:off x="6732240" y="2132856"/>
            <a:ext cx="2123728" cy="3539430"/>
          </a:xfrm>
          <a:prstGeom prst="rect">
            <a:avLst/>
          </a:prstGeom>
          <a:solidFill>
            <a:srgbClr val="CCFFFF"/>
          </a:solidFill>
          <a:ln w="9525">
            <a:solidFill>
              <a:srgbClr val="336600"/>
            </a:solidFill>
            <a:miter lim="800000"/>
            <a:headEnd/>
            <a:tailEnd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 prst="convex"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2800" b="1" dirty="0" smtClean="0">
                <a:solidFill>
                  <a:srgbClr val="800000"/>
                </a:solidFill>
                <a:latin typeface="+mj-lt"/>
                <a:ea typeface="標楷體" pitchFamily="65" charset="-120"/>
              </a:rPr>
              <a:t>現場儀表日趨電腦化</a:t>
            </a:r>
            <a:r>
              <a:rPr lang="en-US" altLang="zh-TW" sz="2800" b="1" dirty="0" smtClean="0">
                <a:solidFill>
                  <a:srgbClr val="800000"/>
                </a:solidFill>
                <a:latin typeface="+mj-lt"/>
                <a:ea typeface="標楷體" pitchFamily="65" charset="-120"/>
              </a:rPr>
              <a:t>(HART/</a:t>
            </a:r>
            <a:r>
              <a:rPr lang="en-US" altLang="zh-TW" sz="2800" b="1" dirty="0" smtClean="0">
                <a:solidFill>
                  <a:srgbClr val="800000"/>
                </a:solidFill>
                <a:ea typeface="標楷體" pitchFamily="65" charset="-120"/>
              </a:rPr>
              <a:t>FF</a:t>
            </a:r>
            <a:r>
              <a:rPr lang="en-US" altLang="zh-TW" sz="2800" b="1" dirty="0" smtClean="0">
                <a:solidFill>
                  <a:srgbClr val="800000"/>
                </a:solidFill>
                <a:latin typeface="+mj-lt"/>
                <a:ea typeface="標楷體" pitchFamily="65" charset="-120"/>
              </a:rPr>
              <a:t>)</a:t>
            </a:r>
            <a:r>
              <a:rPr lang="zh-TW" altLang="en-US" sz="2800" b="1" dirty="0" smtClean="0">
                <a:solidFill>
                  <a:srgbClr val="800000"/>
                </a:solidFill>
                <a:latin typeface="+mj-lt"/>
                <a:ea typeface="標楷體" pitchFamily="65" charset="-120"/>
              </a:rPr>
              <a:t>， 控制室的</a:t>
            </a:r>
            <a:r>
              <a:rPr lang="en-US" altLang="zh-TW" sz="2800" b="1" dirty="0" smtClean="0">
                <a:solidFill>
                  <a:srgbClr val="800000"/>
                </a:solidFill>
                <a:latin typeface="+mj-lt"/>
                <a:ea typeface="標楷體" pitchFamily="65" charset="-120"/>
              </a:rPr>
              <a:t>DCS</a:t>
            </a:r>
            <a:r>
              <a:rPr lang="zh-TW" altLang="en-US" sz="2800" b="1" dirty="0" smtClean="0">
                <a:solidFill>
                  <a:srgbClr val="800000"/>
                </a:solidFill>
                <a:latin typeface="+mj-lt"/>
                <a:ea typeface="標楷體" pitchFamily="65" charset="-120"/>
              </a:rPr>
              <a:t>電腦及桌椅也進步到和辦公室一樣。</a:t>
            </a:r>
            <a:endParaRPr lang="zh-TW" altLang="en-US" sz="2800" b="1" dirty="0">
              <a:solidFill>
                <a:srgbClr val="FF0000"/>
              </a:solidFill>
              <a:latin typeface="+mj-lt"/>
              <a:ea typeface="標楷體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文字方塊 5"/>
          <p:cNvSpPr txBox="1">
            <a:spLocks noChangeArrowheads="1"/>
          </p:cNvSpPr>
          <p:nvPr/>
        </p:nvSpPr>
        <p:spPr bwMode="auto">
          <a:xfrm>
            <a:off x="468313" y="476250"/>
            <a:ext cx="8352159" cy="1033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200000"/>
              </a:lnSpc>
            </a:pPr>
            <a:r>
              <a:rPr kumimoji="1" lang="en-US" altLang="zh-TW" sz="3600" b="1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DCS</a:t>
            </a:r>
            <a:r>
              <a:rPr kumimoji="1" lang="en-US" altLang="zh-TW" sz="3600" b="1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: </a:t>
            </a:r>
            <a:r>
              <a:rPr kumimoji="1" lang="en-US" altLang="zh-TW" sz="3600" b="1" dirty="0" smtClean="0">
                <a:solidFill>
                  <a:srgbClr val="990000"/>
                </a:solidFill>
                <a:latin typeface="標楷體" pitchFamily="65" charset="-120"/>
                <a:ea typeface="標楷體" pitchFamily="65" charset="-120"/>
              </a:rPr>
              <a:t>Alarm/Alert List</a:t>
            </a:r>
            <a:endParaRPr kumimoji="1" lang="en-US" altLang="zh-TW" sz="3600" b="1" dirty="0">
              <a:solidFill>
                <a:srgbClr val="990000"/>
              </a:solidFill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496" y="1772816"/>
            <a:ext cx="9127504" cy="3888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2852936"/>
            <a:ext cx="5292080" cy="3292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文字方塊 7"/>
          <p:cNvSpPr txBox="1">
            <a:spLocks noChangeArrowheads="1"/>
          </p:cNvSpPr>
          <p:nvPr/>
        </p:nvSpPr>
        <p:spPr bwMode="auto">
          <a:xfrm>
            <a:off x="5652120" y="3212976"/>
            <a:ext cx="3059832" cy="2677656"/>
          </a:xfrm>
          <a:prstGeom prst="rect">
            <a:avLst/>
          </a:prstGeom>
          <a:solidFill>
            <a:srgbClr val="CCFFFF"/>
          </a:solidFill>
          <a:ln w="9525">
            <a:solidFill>
              <a:srgbClr val="336600"/>
            </a:solidFill>
            <a:miter lim="800000"/>
            <a:headEnd/>
            <a:tailEnd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 prst="convex"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TW" sz="2800" b="1" dirty="0" smtClean="0">
                <a:solidFill>
                  <a:srgbClr val="990000"/>
                </a:solidFill>
                <a:latin typeface="+mj-lt"/>
                <a:ea typeface="標楷體" pitchFamily="65" charset="-120"/>
              </a:rPr>
              <a:t>DCS Alarm/ </a:t>
            </a:r>
            <a:r>
              <a:rPr lang="en-US" altLang="zh-TW" sz="2800" b="1" dirty="0" smtClean="0">
                <a:solidFill>
                  <a:srgbClr val="00B050"/>
                </a:solidFill>
                <a:latin typeface="+mj-lt"/>
                <a:ea typeface="標楷體" pitchFamily="65" charset="-120"/>
              </a:rPr>
              <a:t>AMS Alert List</a:t>
            </a:r>
            <a:r>
              <a:rPr lang="en-US" altLang="zh-TW" sz="2800" b="1" dirty="0" smtClean="0">
                <a:solidFill>
                  <a:srgbClr val="990000"/>
                </a:solidFill>
                <a:latin typeface="+mj-lt"/>
                <a:ea typeface="標楷體" pitchFamily="65" charset="-120"/>
              </a:rPr>
              <a:t>: </a:t>
            </a:r>
            <a:r>
              <a:rPr lang="zh-TW" altLang="en-US" sz="2800" b="1" dirty="0" smtClean="0">
                <a:solidFill>
                  <a:srgbClr val="7030A0"/>
                </a:solidFill>
                <a:latin typeface="+mj-lt"/>
                <a:ea typeface="標楷體" pitchFamily="65" charset="-120"/>
              </a:rPr>
              <a:t>分別在</a:t>
            </a:r>
            <a:r>
              <a:rPr lang="en-US" altLang="zh-TW" sz="2800" b="1" dirty="0" smtClean="0">
                <a:solidFill>
                  <a:srgbClr val="7030A0"/>
                </a:solidFill>
                <a:latin typeface="+mj-lt"/>
                <a:ea typeface="標楷體" pitchFamily="65" charset="-120"/>
              </a:rPr>
              <a:t>DCS</a:t>
            </a:r>
            <a:r>
              <a:rPr lang="zh-TW" altLang="en-US" sz="2800" b="1" dirty="0" smtClean="0">
                <a:solidFill>
                  <a:srgbClr val="7030A0"/>
                </a:solidFill>
                <a:latin typeface="+mj-lt"/>
                <a:ea typeface="標楷體" pitchFamily="65" charset="-120"/>
              </a:rPr>
              <a:t>及</a:t>
            </a:r>
            <a:r>
              <a:rPr lang="en-US" altLang="zh-TW" sz="2800" b="1" dirty="0" smtClean="0">
                <a:solidFill>
                  <a:srgbClr val="00B050"/>
                </a:solidFill>
                <a:latin typeface="+mj-lt"/>
                <a:ea typeface="標楷體" pitchFamily="65" charset="-120"/>
              </a:rPr>
              <a:t>AMS</a:t>
            </a:r>
            <a:r>
              <a:rPr lang="zh-TW" altLang="en-US" sz="2800" b="1" dirty="0" smtClean="0">
                <a:solidFill>
                  <a:srgbClr val="7030A0"/>
                </a:solidFill>
                <a:latin typeface="+mj-lt"/>
                <a:ea typeface="標楷體" pitchFamily="65" charset="-120"/>
              </a:rPr>
              <a:t>上提供</a:t>
            </a:r>
            <a:r>
              <a:rPr lang="en-US" altLang="zh-TW" sz="2800" b="1" dirty="0" smtClean="0">
                <a:solidFill>
                  <a:srgbClr val="7030A0"/>
                </a:solidFill>
                <a:latin typeface="+mj-lt"/>
                <a:ea typeface="標楷體" pitchFamily="65" charset="-120"/>
              </a:rPr>
              <a:t>Process Alarm</a:t>
            </a:r>
            <a:r>
              <a:rPr lang="zh-TW" altLang="en-US" sz="2800" b="1" dirty="0" smtClean="0">
                <a:solidFill>
                  <a:srgbClr val="7030A0"/>
                </a:solidFill>
                <a:latin typeface="+mj-lt"/>
                <a:ea typeface="標楷體" pitchFamily="65" charset="-120"/>
              </a:rPr>
              <a:t> </a:t>
            </a:r>
            <a:r>
              <a:rPr lang="en-US" altLang="zh-TW" sz="2800" b="1" dirty="0" smtClean="0">
                <a:solidFill>
                  <a:srgbClr val="7030A0"/>
                </a:solidFill>
                <a:latin typeface="+mj-lt"/>
                <a:ea typeface="標楷體" pitchFamily="65" charset="-120"/>
              </a:rPr>
              <a:t>/</a:t>
            </a:r>
            <a:r>
              <a:rPr lang="zh-TW" altLang="en-US" sz="2800" b="1" dirty="0" smtClean="0">
                <a:solidFill>
                  <a:srgbClr val="7030A0"/>
                </a:solidFill>
                <a:latin typeface="+mj-lt"/>
                <a:ea typeface="標楷體" pitchFamily="65" charset="-120"/>
              </a:rPr>
              <a:t> </a:t>
            </a:r>
            <a:r>
              <a:rPr lang="en-US" altLang="zh-TW" sz="2800" b="1" dirty="0" smtClean="0">
                <a:solidFill>
                  <a:srgbClr val="7030A0"/>
                </a:solidFill>
                <a:latin typeface="+mj-lt"/>
                <a:ea typeface="標楷體" pitchFamily="65" charset="-120"/>
              </a:rPr>
              <a:t>IO Alarm</a:t>
            </a:r>
            <a:r>
              <a:rPr lang="zh-TW" altLang="en-US" sz="2800" b="1" dirty="0" smtClean="0">
                <a:solidFill>
                  <a:srgbClr val="7030A0"/>
                </a:solidFill>
                <a:latin typeface="+mj-lt"/>
                <a:ea typeface="標楷體" pitchFamily="65" charset="-120"/>
              </a:rPr>
              <a:t>及</a:t>
            </a:r>
            <a:r>
              <a:rPr lang="zh-TW" altLang="en-US" sz="2800" b="1" dirty="0" smtClean="0">
                <a:solidFill>
                  <a:srgbClr val="00B050"/>
                </a:solidFill>
                <a:latin typeface="+mj-lt"/>
                <a:ea typeface="標楷體" pitchFamily="65" charset="-120"/>
              </a:rPr>
              <a:t>儀表異常故障表</a:t>
            </a:r>
            <a:endParaRPr lang="zh-TW" altLang="en-US" sz="2800" b="1" dirty="0">
              <a:solidFill>
                <a:srgbClr val="00B050"/>
              </a:solidFill>
              <a:latin typeface="+mj-lt"/>
              <a:ea typeface="標楷體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文字方塊 5"/>
          <p:cNvSpPr txBox="1">
            <a:spLocks noChangeArrowheads="1"/>
          </p:cNvSpPr>
          <p:nvPr/>
        </p:nvSpPr>
        <p:spPr bwMode="auto">
          <a:xfrm>
            <a:off x="468313" y="476250"/>
            <a:ext cx="8352159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200000"/>
              </a:lnSpc>
            </a:pPr>
            <a:r>
              <a:rPr kumimoji="1" lang="en-US" altLang="zh-TW" sz="3600" b="1" u="sng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DCS</a:t>
            </a:r>
            <a:r>
              <a:rPr kumimoji="1" lang="en-US" altLang="zh-TW" sz="3600" b="1" dirty="0" smtClean="0">
                <a:solidFill>
                  <a:srgbClr val="0000CC"/>
                </a:solidFill>
                <a:latin typeface="標楷體" pitchFamily="65" charset="-120"/>
                <a:ea typeface="標楷體" pitchFamily="65" charset="-120"/>
              </a:rPr>
              <a:t>: </a:t>
            </a:r>
            <a:r>
              <a:rPr kumimoji="1" lang="en-US" altLang="zh-TW" sz="3600" b="1" dirty="0" smtClean="0">
                <a:solidFill>
                  <a:srgbClr val="990000"/>
                </a:solidFill>
                <a:latin typeface="標楷體" pitchFamily="65" charset="-120"/>
                <a:ea typeface="標楷體" pitchFamily="65" charset="-120"/>
              </a:rPr>
              <a:t>Trend</a:t>
            </a:r>
            <a:endParaRPr kumimoji="1" lang="en-US" altLang="zh-TW" sz="3600" b="1" dirty="0">
              <a:solidFill>
                <a:srgbClr val="99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7" name="文字方塊 7"/>
          <p:cNvSpPr txBox="1">
            <a:spLocks noChangeArrowheads="1"/>
          </p:cNvSpPr>
          <p:nvPr/>
        </p:nvSpPr>
        <p:spPr bwMode="auto">
          <a:xfrm>
            <a:off x="5724128" y="2564904"/>
            <a:ext cx="3059832" cy="3108543"/>
          </a:xfrm>
          <a:prstGeom prst="rect">
            <a:avLst/>
          </a:prstGeom>
          <a:solidFill>
            <a:srgbClr val="FFFFCC"/>
          </a:solidFill>
          <a:ln w="9525">
            <a:solidFill>
              <a:srgbClr val="336600"/>
            </a:solidFill>
            <a:miter lim="800000"/>
            <a:headEnd/>
            <a:tailEnd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 prst="convex"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TW" sz="2800" b="1" dirty="0" smtClean="0">
                <a:solidFill>
                  <a:srgbClr val="990000"/>
                </a:solidFill>
                <a:latin typeface="+mj-lt"/>
                <a:ea typeface="標楷體" pitchFamily="65" charset="-120"/>
              </a:rPr>
              <a:t>Trend: </a:t>
            </a:r>
            <a:r>
              <a:rPr lang="zh-TW" altLang="en-US" sz="2800" b="1" dirty="0" smtClean="0">
                <a:solidFill>
                  <a:srgbClr val="7030A0"/>
                </a:solidFill>
                <a:latin typeface="+mj-lt"/>
                <a:ea typeface="標楷體" pitchFamily="65" charset="-120"/>
              </a:rPr>
              <a:t>工廠開車、操作上</a:t>
            </a:r>
            <a:r>
              <a:rPr lang="en-US" altLang="zh-TW" sz="2800" b="1" dirty="0" smtClean="0">
                <a:solidFill>
                  <a:srgbClr val="7030A0"/>
                </a:solidFill>
                <a:latin typeface="+mj-lt"/>
                <a:ea typeface="標楷體" pitchFamily="65" charset="-120"/>
              </a:rPr>
              <a:t>Troubleshooting</a:t>
            </a:r>
            <a:r>
              <a:rPr lang="zh-TW" altLang="en-US" sz="2800" b="1" dirty="0" smtClean="0">
                <a:solidFill>
                  <a:srgbClr val="7030A0"/>
                </a:solidFill>
                <a:latin typeface="+mj-lt"/>
                <a:ea typeface="標楷體" pitchFamily="65" charset="-120"/>
              </a:rPr>
              <a:t>之利器，可將相關參數放一起，在時間軸上研究事件的關連性</a:t>
            </a:r>
            <a:endParaRPr lang="zh-TW" altLang="en-US" sz="2800" b="1" dirty="0">
              <a:solidFill>
                <a:srgbClr val="7030A0"/>
              </a:solidFill>
              <a:latin typeface="+mj-lt"/>
              <a:ea typeface="標楷體" pitchFamily="65" charset="-12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772816"/>
            <a:ext cx="5220072" cy="4341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文字方塊 5"/>
          <p:cNvSpPr txBox="1">
            <a:spLocks noChangeArrowheads="1"/>
          </p:cNvSpPr>
          <p:nvPr/>
        </p:nvSpPr>
        <p:spPr bwMode="auto">
          <a:xfrm>
            <a:off x="468313" y="476250"/>
            <a:ext cx="8675687" cy="1033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200000"/>
              </a:lnSpc>
            </a:pPr>
            <a:r>
              <a:rPr kumimoji="1" lang="en-US" altLang="zh-TW" sz="3600" b="1" u="sng" dirty="0" smtClean="0">
                <a:solidFill>
                  <a:srgbClr val="D60093"/>
                </a:solidFill>
                <a:latin typeface="標楷體" pitchFamily="65" charset="-120"/>
                <a:ea typeface="標楷體" pitchFamily="65" charset="-120"/>
              </a:rPr>
              <a:t>SIS</a:t>
            </a:r>
            <a:r>
              <a:rPr kumimoji="1" lang="en-US" altLang="zh-TW" sz="3600" b="1" dirty="0" smtClean="0">
                <a:solidFill>
                  <a:srgbClr val="D60093"/>
                </a:solidFill>
                <a:latin typeface="標楷體" pitchFamily="65" charset="-120"/>
                <a:ea typeface="標楷體" pitchFamily="65" charset="-120"/>
              </a:rPr>
              <a:t>:</a:t>
            </a:r>
            <a:r>
              <a:rPr kumimoji="1" lang="zh-TW" altLang="en-US" sz="3600" b="1" dirty="0" smtClean="0">
                <a:solidFill>
                  <a:srgbClr val="0099FF"/>
                </a:solidFill>
                <a:latin typeface="標楷體" pitchFamily="65" charset="-120"/>
                <a:ea typeface="標楷體" pitchFamily="65" charset="-120"/>
              </a:rPr>
              <a:t>指</a:t>
            </a:r>
            <a:r>
              <a:rPr kumimoji="1" lang="en-US" altLang="zh-TW" sz="3600" b="1" dirty="0" smtClean="0">
                <a:solidFill>
                  <a:srgbClr val="0099FF"/>
                </a:solidFill>
                <a:latin typeface="標楷體" pitchFamily="65" charset="-120"/>
                <a:ea typeface="標楷體" pitchFamily="65" charset="-120"/>
              </a:rPr>
              <a:t>PLC</a:t>
            </a:r>
            <a:r>
              <a:rPr kumimoji="1" lang="zh-TW" altLang="en-US" sz="3600" b="1" dirty="0" smtClean="0">
                <a:solidFill>
                  <a:srgbClr val="0099FF"/>
                </a:solidFill>
                <a:latin typeface="標楷體" pitchFamily="65" charset="-120"/>
                <a:ea typeface="標楷體" pitchFamily="65" charset="-120"/>
              </a:rPr>
              <a:t>或</a:t>
            </a:r>
            <a:r>
              <a:rPr kumimoji="1" lang="en-US" altLang="zh-TW" sz="3600" b="1" dirty="0" smtClean="0">
                <a:solidFill>
                  <a:srgbClr val="0099FF"/>
                </a:solidFill>
                <a:latin typeface="標楷體" pitchFamily="65" charset="-120"/>
                <a:ea typeface="標楷體" pitchFamily="65" charset="-120"/>
              </a:rPr>
              <a:t>Safety Instrumented System</a:t>
            </a:r>
            <a:endParaRPr kumimoji="1" lang="en-US" altLang="zh-TW" sz="3600" b="1" dirty="0">
              <a:solidFill>
                <a:srgbClr val="99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7" name="文字方塊 6"/>
          <p:cNvSpPr txBox="1">
            <a:spLocks noChangeArrowheads="1"/>
          </p:cNvSpPr>
          <p:nvPr/>
        </p:nvSpPr>
        <p:spPr bwMode="auto">
          <a:xfrm>
            <a:off x="395536" y="2204864"/>
            <a:ext cx="8461448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742950" indent="-742950" eaLnBrk="1" hangingPunct="1">
              <a:spcBef>
                <a:spcPts val="2400"/>
              </a:spcBef>
              <a:buFont typeface="+mj-lt"/>
              <a:buAutoNum type="arabicPeriod"/>
            </a:pPr>
            <a:r>
              <a:rPr kumimoji="1" lang="zh-TW" altLang="en-US" sz="3600" b="1" kern="0" dirty="0" smtClean="0">
                <a:solidFill>
                  <a:srgbClr val="7030A0"/>
                </a:solidFill>
                <a:latin typeface="標楷體" pitchFamily="65" charset="-120"/>
                <a:ea typeface="標楷體" pitchFamily="65" charset="-120"/>
              </a:rPr>
              <a:t>廣義</a:t>
            </a:r>
            <a:r>
              <a:rPr kumimoji="1" lang="en-US" altLang="zh-TW" sz="3600" b="1" kern="0" dirty="0" smtClean="0">
                <a:solidFill>
                  <a:srgbClr val="7030A0"/>
                </a:solidFill>
              </a:rPr>
              <a:t>SIS:</a:t>
            </a:r>
            <a:r>
              <a:rPr kumimoji="1" lang="zh-TW" altLang="en-US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包含</a:t>
            </a:r>
            <a:r>
              <a:rPr kumimoji="1" lang="en-US" altLang="zh-TW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Sensor (</a:t>
            </a:r>
            <a:r>
              <a:rPr kumimoji="1" lang="zh-TW" altLang="en-US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如</a:t>
            </a:r>
            <a:r>
              <a:rPr kumimoji="1" lang="en-US" altLang="zh-TW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FT)</a:t>
            </a:r>
            <a:r>
              <a:rPr kumimoji="1" lang="zh-TW" altLang="en-US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、有</a:t>
            </a:r>
            <a:r>
              <a:rPr kumimoji="1" lang="en-US" altLang="zh-TW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SIL</a:t>
            </a:r>
            <a:r>
              <a:rPr kumimoji="1" lang="zh-TW" altLang="en-US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等級的</a:t>
            </a:r>
            <a:r>
              <a:rPr kumimoji="1" lang="en-US" altLang="zh-TW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PLC</a:t>
            </a:r>
            <a:r>
              <a:rPr kumimoji="1" lang="zh-TW" altLang="en-US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和被控制元件</a:t>
            </a:r>
            <a:r>
              <a:rPr kumimoji="1" lang="en-US" altLang="zh-TW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(</a:t>
            </a:r>
            <a:r>
              <a:rPr kumimoji="1" lang="zh-TW" altLang="en-US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如</a:t>
            </a:r>
            <a:r>
              <a:rPr kumimoji="1" lang="en-US" altLang="zh-TW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Valve)</a:t>
            </a:r>
          </a:p>
          <a:p>
            <a:pPr marL="742950" indent="-742950" eaLnBrk="1" hangingPunct="1">
              <a:spcBef>
                <a:spcPts val="2400"/>
              </a:spcBef>
              <a:buFont typeface="+mj-lt"/>
              <a:buAutoNum type="arabicPeriod"/>
            </a:pPr>
            <a:r>
              <a:rPr kumimoji="1" lang="zh-TW" altLang="en-US" sz="3600" b="1" kern="0" dirty="0" smtClean="0">
                <a:solidFill>
                  <a:srgbClr val="7030A0"/>
                </a:solidFill>
                <a:latin typeface="標楷體" pitchFamily="65" charset="-120"/>
                <a:ea typeface="標楷體" pitchFamily="65" charset="-120"/>
              </a:rPr>
              <a:t>狹義</a:t>
            </a:r>
            <a:r>
              <a:rPr kumimoji="1" lang="en-US" altLang="zh-TW" sz="3600" b="1" kern="0" dirty="0" smtClean="0">
                <a:solidFill>
                  <a:srgbClr val="7030A0"/>
                </a:solidFill>
              </a:rPr>
              <a:t>SIS : </a:t>
            </a:r>
            <a:r>
              <a:rPr kumimoji="1" lang="zh-TW" altLang="en-US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指向</a:t>
            </a:r>
            <a:r>
              <a:rPr kumimoji="1" lang="en-US" altLang="zh-TW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IEC-61508</a:t>
            </a:r>
            <a:r>
              <a:rPr kumimoji="1" lang="zh-TW" altLang="en-US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定義之</a:t>
            </a:r>
            <a:r>
              <a:rPr kumimoji="1" lang="en-US" altLang="zh-TW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  Logic  Solver</a:t>
            </a:r>
            <a:r>
              <a:rPr kumimoji="1" lang="zh-TW" altLang="en-US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，亦即有</a:t>
            </a:r>
            <a:r>
              <a:rPr kumimoji="1" lang="en-US" altLang="zh-TW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SIL</a:t>
            </a:r>
            <a:r>
              <a:rPr kumimoji="1" lang="zh-TW" altLang="en-US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等級的</a:t>
            </a:r>
            <a:r>
              <a:rPr kumimoji="1" lang="en-US" altLang="zh-TW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PLC</a:t>
            </a:r>
            <a:endParaRPr kumimoji="1" lang="en-US" altLang="zh-TW" sz="3600" b="1" dirty="0">
              <a:solidFill>
                <a:srgbClr val="669900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文字方塊 5"/>
          <p:cNvSpPr txBox="1">
            <a:spLocks noChangeArrowheads="1"/>
          </p:cNvSpPr>
          <p:nvPr/>
        </p:nvSpPr>
        <p:spPr bwMode="auto">
          <a:xfrm>
            <a:off x="468313" y="476250"/>
            <a:ext cx="8352159" cy="21416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200000"/>
              </a:lnSpc>
            </a:pPr>
            <a:r>
              <a:rPr kumimoji="1" lang="en-US" altLang="zh-TW" sz="3600" b="1" u="sng" dirty="0" smtClean="0">
                <a:solidFill>
                  <a:srgbClr val="D60093"/>
                </a:solidFill>
                <a:latin typeface="標楷體" pitchFamily="65" charset="-120"/>
                <a:ea typeface="標楷體" pitchFamily="65" charset="-120"/>
              </a:rPr>
              <a:t>SIS</a:t>
            </a:r>
            <a:r>
              <a:rPr kumimoji="1" lang="en-US" altLang="zh-TW" sz="3600" b="1" dirty="0" smtClean="0">
                <a:solidFill>
                  <a:srgbClr val="D60093"/>
                </a:solidFill>
                <a:latin typeface="標楷體" pitchFamily="65" charset="-120"/>
                <a:ea typeface="標楷體" pitchFamily="65" charset="-120"/>
              </a:rPr>
              <a:t>: </a:t>
            </a:r>
            <a:r>
              <a:rPr kumimoji="1" lang="en-US" altLang="zh-TW" sz="3600" b="1" dirty="0" smtClean="0">
                <a:solidFill>
                  <a:srgbClr val="0099FF"/>
                </a:solidFill>
                <a:latin typeface="標楷體" pitchFamily="65" charset="-120"/>
                <a:ea typeface="標楷體" pitchFamily="65" charset="-120"/>
              </a:rPr>
              <a:t>SIL 1 </a:t>
            </a:r>
            <a:r>
              <a:rPr kumimoji="1" lang="zh-TW" altLang="en-US" sz="3600" b="1" dirty="0" smtClean="0">
                <a:solidFill>
                  <a:srgbClr val="0099FF"/>
                </a:solidFill>
                <a:latin typeface="標楷體" pitchFamily="65" charset="-120"/>
                <a:ea typeface="標楷體" pitchFamily="65" charset="-120"/>
              </a:rPr>
              <a:t>可降低風險 </a:t>
            </a:r>
            <a:r>
              <a:rPr kumimoji="1" lang="en-US" altLang="zh-TW" sz="3600" b="1" dirty="0" smtClean="0">
                <a:solidFill>
                  <a:srgbClr val="0099FF"/>
                </a:solidFill>
                <a:latin typeface="標楷體" pitchFamily="65" charset="-120"/>
                <a:ea typeface="標楷體" pitchFamily="65" charset="-120"/>
              </a:rPr>
              <a:t>1/10 </a:t>
            </a:r>
            <a:r>
              <a:rPr kumimoji="1" lang="zh-TW" altLang="en-US" sz="3600" b="1" dirty="0" smtClean="0">
                <a:solidFill>
                  <a:srgbClr val="0099FF"/>
                </a:solidFill>
                <a:latin typeface="標楷體" pitchFamily="65" charset="-120"/>
                <a:ea typeface="標楷體" pitchFamily="65" charset="-120"/>
              </a:rPr>
              <a:t>到</a:t>
            </a:r>
            <a:r>
              <a:rPr kumimoji="1" lang="en-US" altLang="zh-TW" sz="3600" b="1" dirty="0" smtClean="0">
                <a:solidFill>
                  <a:srgbClr val="0099FF"/>
                </a:solidFill>
                <a:latin typeface="標楷體" pitchFamily="65" charset="-120"/>
                <a:ea typeface="標楷體" pitchFamily="65" charset="-120"/>
              </a:rPr>
              <a:t>1/100</a:t>
            </a:r>
          </a:p>
          <a:p>
            <a:pPr eaLnBrk="1" hangingPunct="1">
              <a:lnSpc>
                <a:spcPct val="200000"/>
              </a:lnSpc>
            </a:pPr>
            <a:endParaRPr kumimoji="1" lang="en-US" altLang="zh-TW" sz="3600" b="1" dirty="0">
              <a:solidFill>
                <a:srgbClr val="990000"/>
              </a:solidFill>
              <a:latin typeface="標楷體" pitchFamily="65" charset="-120"/>
              <a:ea typeface="標楷體" pitchFamily="65" charset="-12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51520" y="1988840"/>
          <a:ext cx="8352928" cy="3672410"/>
        </p:xfrm>
        <a:graphic>
          <a:graphicData uri="http://schemas.openxmlformats.org/drawingml/2006/table">
            <a:tbl>
              <a:tblPr/>
              <a:tblGrid>
                <a:gridCol w="1727623"/>
                <a:gridCol w="3393965"/>
                <a:gridCol w="3231340"/>
              </a:tblGrid>
              <a:tr h="1496166">
                <a:tc>
                  <a:txBody>
                    <a:bodyPr/>
                    <a:lstStyle/>
                    <a:p>
                      <a:pPr marL="82550" marR="82550" algn="ctr">
                        <a:spcAft>
                          <a:spcPts val="0"/>
                        </a:spcAft>
                      </a:pPr>
                      <a:r>
                        <a:rPr lang="zh-TW" sz="2800" kern="100" dirty="0">
                          <a:latin typeface="Arial"/>
                          <a:ea typeface="標楷體"/>
                        </a:rPr>
                        <a:t>IEC-61511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2550" marR="82550" algn="ctr">
                        <a:spcAft>
                          <a:spcPts val="0"/>
                        </a:spcAft>
                      </a:pPr>
                      <a:r>
                        <a:rPr lang="en-US" sz="2800" kern="100" dirty="0" err="1">
                          <a:latin typeface="Arial"/>
                          <a:ea typeface="標楷體"/>
                        </a:rPr>
                        <a:t>PFD</a:t>
                      </a:r>
                      <a:r>
                        <a:rPr lang="en-US" sz="2800" kern="100" baseline="-25000" dirty="0" err="1">
                          <a:latin typeface="Arial"/>
                          <a:ea typeface="標楷體"/>
                        </a:rPr>
                        <a:t>avg</a:t>
                      </a:r>
                      <a:r>
                        <a:rPr lang="en-US" sz="2800" kern="100" dirty="0">
                          <a:latin typeface="Arial"/>
                          <a:ea typeface="標楷體"/>
                        </a:rPr>
                        <a:t> (Average Probability of Failure on Demand)</a:t>
                      </a:r>
                      <a:endParaRPr lang="zh-TW" sz="2800" kern="100" dirty="0">
                        <a:latin typeface="Arial"/>
                        <a:ea typeface="標楷體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2550" marR="82550"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latin typeface="Arial"/>
                          <a:ea typeface="標楷體"/>
                        </a:rPr>
                        <a:t>Risk Reduction Factor = 1/</a:t>
                      </a:r>
                      <a:r>
                        <a:rPr lang="en-US" sz="2800" kern="100" dirty="0" err="1">
                          <a:latin typeface="Arial"/>
                          <a:ea typeface="標楷體"/>
                        </a:rPr>
                        <a:t>PFD</a:t>
                      </a:r>
                      <a:r>
                        <a:rPr lang="en-US" sz="2800" kern="100" baseline="-25000" dirty="0" err="1">
                          <a:latin typeface="Arial"/>
                          <a:ea typeface="標楷體"/>
                        </a:rPr>
                        <a:t>avg</a:t>
                      </a:r>
                      <a:endParaRPr lang="zh-TW" sz="2800" kern="100" dirty="0">
                        <a:latin typeface="Arial"/>
                        <a:ea typeface="標楷體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061">
                <a:tc>
                  <a:txBody>
                    <a:bodyPr/>
                    <a:lstStyle/>
                    <a:p>
                      <a:pPr marL="82550" marR="82550"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latin typeface="Arial"/>
                          <a:ea typeface="標楷體"/>
                        </a:rPr>
                        <a:t>SIL 4</a:t>
                      </a:r>
                      <a:endParaRPr lang="zh-TW" sz="2800" kern="100">
                        <a:latin typeface="Arial"/>
                        <a:ea typeface="標楷體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2550" marR="82550"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latin typeface="Arial"/>
                          <a:ea typeface="標楷體"/>
                        </a:rPr>
                        <a:t></a:t>
                      </a:r>
                      <a:r>
                        <a:rPr lang="zh-TW" sz="2800" kern="100">
                          <a:latin typeface="Symbol"/>
                          <a:ea typeface="標楷體"/>
                          <a:cs typeface="Symbol"/>
                        </a:rPr>
                        <a:t></a:t>
                      </a:r>
                      <a:r>
                        <a:rPr lang="en-US" sz="2800" kern="100">
                          <a:latin typeface="Arial"/>
                          <a:ea typeface="標楷體"/>
                        </a:rPr>
                        <a:t> 10</a:t>
                      </a:r>
                      <a:r>
                        <a:rPr lang="en-US" sz="2800" kern="100" baseline="30000">
                          <a:latin typeface="Arial"/>
                          <a:ea typeface="標楷體"/>
                        </a:rPr>
                        <a:t>-5</a:t>
                      </a:r>
                      <a:r>
                        <a:rPr lang="en-US" sz="2800" kern="100">
                          <a:latin typeface="Arial"/>
                          <a:ea typeface="標楷體"/>
                        </a:rPr>
                        <a:t> to &lt; 10</a:t>
                      </a:r>
                      <a:r>
                        <a:rPr lang="en-US" sz="2800" kern="100" baseline="30000">
                          <a:latin typeface="Arial"/>
                          <a:ea typeface="標楷體"/>
                        </a:rPr>
                        <a:t>-4</a:t>
                      </a:r>
                      <a:endParaRPr lang="zh-TW" sz="2800" kern="100">
                        <a:latin typeface="Arial"/>
                        <a:ea typeface="標楷體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2550" marR="82550" algn="ctr">
                        <a:spcAft>
                          <a:spcPts val="0"/>
                        </a:spcAft>
                      </a:pPr>
                      <a:r>
                        <a:rPr lang="pl-PL" sz="2800" kern="100" dirty="0">
                          <a:latin typeface="Arial"/>
                          <a:ea typeface="標楷體"/>
                        </a:rPr>
                        <a:t>100,000 to 10,000</a:t>
                      </a:r>
                      <a:endParaRPr lang="zh-TW" sz="2800" kern="100" dirty="0">
                        <a:latin typeface="Arial"/>
                        <a:ea typeface="標楷體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061">
                <a:tc>
                  <a:txBody>
                    <a:bodyPr/>
                    <a:lstStyle/>
                    <a:p>
                      <a:pPr marL="82550" marR="82550" algn="ctr">
                        <a:spcAft>
                          <a:spcPts val="0"/>
                        </a:spcAft>
                      </a:pPr>
                      <a:r>
                        <a:rPr lang="pl-PL" sz="2800" kern="100">
                          <a:latin typeface="Arial"/>
                          <a:ea typeface="標楷體"/>
                        </a:rPr>
                        <a:t>SIL 3</a:t>
                      </a:r>
                      <a:endParaRPr lang="zh-TW" sz="2800" kern="100">
                        <a:latin typeface="Arial"/>
                        <a:ea typeface="標楷體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2550" marR="82550"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latin typeface="Arial"/>
                          <a:ea typeface="標楷體"/>
                        </a:rPr>
                        <a:t></a:t>
                      </a:r>
                      <a:r>
                        <a:rPr lang="zh-TW" sz="2800" kern="100" dirty="0">
                          <a:latin typeface="Symbol"/>
                          <a:ea typeface="標楷體"/>
                          <a:cs typeface="Symbol"/>
                        </a:rPr>
                        <a:t></a:t>
                      </a:r>
                      <a:r>
                        <a:rPr lang="pl-PL" sz="2800" kern="100" dirty="0">
                          <a:latin typeface="Arial"/>
                          <a:ea typeface="標楷體"/>
                        </a:rPr>
                        <a:t> 10</a:t>
                      </a:r>
                      <a:r>
                        <a:rPr lang="pl-PL" sz="2800" kern="100" baseline="30000" dirty="0">
                          <a:latin typeface="Arial"/>
                          <a:ea typeface="標楷體"/>
                        </a:rPr>
                        <a:t>-4</a:t>
                      </a:r>
                      <a:r>
                        <a:rPr lang="pl-PL" sz="2800" kern="100" dirty="0">
                          <a:latin typeface="Arial"/>
                          <a:ea typeface="標楷體"/>
                        </a:rPr>
                        <a:t> to &lt; 10</a:t>
                      </a:r>
                      <a:r>
                        <a:rPr lang="pl-PL" sz="2800" kern="100" baseline="30000" dirty="0">
                          <a:latin typeface="Arial"/>
                          <a:ea typeface="標楷體"/>
                        </a:rPr>
                        <a:t>-3</a:t>
                      </a:r>
                      <a:endParaRPr lang="zh-TW" sz="2800" kern="100" dirty="0">
                        <a:latin typeface="Arial"/>
                        <a:ea typeface="標楷體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2550" marR="82550" algn="ctr">
                        <a:spcAft>
                          <a:spcPts val="0"/>
                        </a:spcAft>
                      </a:pPr>
                      <a:r>
                        <a:rPr lang="pl-PL" sz="2800" kern="100" dirty="0">
                          <a:latin typeface="Arial"/>
                          <a:ea typeface="標楷體"/>
                        </a:rPr>
                        <a:t>10,000 to 1,000</a:t>
                      </a:r>
                      <a:endParaRPr lang="zh-TW" sz="2800" kern="100" dirty="0">
                        <a:latin typeface="Arial"/>
                        <a:ea typeface="標楷體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061">
                <a:tc>
                  <a:txBody>
                    <a:bodyPr/>
                    <a:lstStyle/>
                    <a:p>
                      <a:pPr marL="82550" marR="82550" algn="ctr">
                        <a:spcAft>
                          <a:spcPts val="0"/>
                        </a:spcAft>
                      </a:pPr>
                      <a:r>
                        <a:rPr lang="pl-PL" sz="2800" kern="100">
                          <a:latin typeface="Arial"/>
                          <a:ea typeface="標楷體"/>
                        </a:rPr>
                        <a:t>SIL 2</a:t>
                      </a:r>
                      <a:endParaRPr lang="zh-TW" sz="2800" kern="100">
                        <a:latin typeface="Arial"/>
                        <a:ea typeface="標楷體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2550" marR="82550"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latin typeface="Arial"/>
                          <a:ea typeface="標楷體"/>
                        </a:rPr>
                        <a:t></a:t>
                      </a:r>
                      <a:r>
                        <a:rPr lang="zh-TW" sz="2800" kern="100">
                          <a:latin typeface="Symbol"/>
                          <a:ea typeface="標楷體"/>
                          <a:cs typeface="Symbol"/>
                        </a:rPr>
                        <a:t></a:t>
                      </a:r>
                      <a:r>
                        <a:rPr lang="pl-PL" sz="2800" kern="100">
                          <a:latin typeface="Arial"/>
                          <a:ea typeface="標楷體"/>
                        </a:rPr>
                        <a:t> 10</a:t>
                      </a:r>
                      <a:r>
                        <a:rPr lang="pl-PL" sz="2800" kern="100" baseline="30000">
                          <a:latin typeface="Arial"/>
                          <a:ea typeface="標楷體"/>
                        </a:rPr>
                        <a:t>-3</a:t>
                      </a:r>
                      <a:r>
                        <a:rPr lang="pl-PL" sz="2800" kern="100">
                          <a:latin typeface="Arial"/>
                          <a:ea typeface="標楷體"/>
                        </a:rPr>
                        <a:t> to &lt; 10</a:t>
                      </a:r>
                      <a:r>
                        <a:rPr lang="pl-PL" sz="2800" kern="100" baseline="30000">
                          <a:latin typeface="Arial"/>
                          <a:ea typeface="標楷體"/>
                        </a:rPr>
                        <a:t>-2</a:t>
                      </a:r>
                      <a:endParaRPr lang="zh-TW" sz="2800" kern="100">
                        <a:latin typeface="Arial"/>
                        <a:ea typeface="標楷體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2550" marR="82550" algn="ctr">
                        <a:spcAft>
                          <a:spcPts val="0"/>
                        </a:spcAft>
                      </a:pPr>
                      <a:r>
                        <a:rPr lang="pl-PL" sz="2800" kern="100" dirty="0">
                          <a:latin typeface="Arial"/>
                          <a:ea typeface="標楷體"/>
                        </a:rPr>
                        <a:t>1,000 to 100</a:t>
                      </a:r>
                      <a:endParaRPr lang="zh-TW" sz="2800" kern="100" dirty="0">
                        <a:latin typeface="Arial"/>
                        <a:ea typeface="標楷體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061">
                <a:tc>
                  <a:txBody>
                    <a:bodyPr/>
                    <a:lstStyle/>
                    <a:p>
                      <a:pPr marL="82550" marR="82550" algn="ctr">
                        <a:spcAft>
                          <a:spcPts val="0"/>
                        </a:spcAft>
                      </a:pPr>
                      <a:r>
                        <a:rPr lang="pl-PL" sz="2800" b="1" kern="100" dirty="0">
                          <a:solidFill>
                            <a:srgbClr val="7030A0"/>
                          </a:solidFill>
                          <a:latin typeface="Arial"/>
                          <a:ea typeface="標楷體"/>
                        </a:rPr>
                        <a:t>SIL 1</a:t>
                      </a:r>
                      <a:endParaRPr lang="zh-TW" sz="2800" b="1" kern="100" dirty="0">
                        <a:solidFill>
                          <a:srgbClr val="7030A0"/>
                        </a:solidFill>
                        <a:latin typeface="Arial"/>
                        <a:ea typeface="標楷體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2550" marR="82550"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solidFill>
                            <a:srgbClr val="7030A0"/>
                          </a:solidFill>
                          <a:latin typeface="Arial"/>
                          <a:ea typeface="標楷體"/>
                        </a:rPr>
                        <a:t></a:t>
                      </a:r>
                      <a:r>
                        <a:rPr lang="zh-TW" sz="2800" b="1" kern="100">
                          <a:solidFill>
                            <a:srgbClr val="7030A0"/>
                          </a:solidFill>
                          <a:latin typeface="Symbol"/>
                          <a:ea typeface="標楷體"/>
                          <a:cs typeface="Symbol"/>
                        </a:rPr>
                        <a:t></a:t>
                      </a:r>
                      <a:r>
                        <a:rPr lang="en-US" sz="2800" b="1" kern="100">
                          <a:solidFill>
                            <a:srgbClr val="7030A0"/>
                          </a:solidFill>
                          <a:latin typeface="Arial"/>
                          <a:ea typeface="標楷體"/>
                        </a:rPr>
                        <a:t> 10</a:t>
                      </a:r>
                      <a:r>
                        <a:rPr lang="en-US" sz="2800" b="1" kern="100" baseline="30000">
                          <a:solidFill>
                            <a:srgbClr val="7030A0"/>
                          </a:solidFill>
                          <a:latin typeface="Arial"/>
                          <a:ea typeface="標楷體"/>
                        </a:rPr>
                        <a:t>-2</a:t>
                      </a:r>
                      <a:r>
                        <a:rPr lang="en-US" sz="2800" b="1" kern="100">
                          <a:solidFill>
                            <a:srgbClr val="7030A0"/>
                          </a:solidFill>
                          <a:latin typeface="Arial"/>
                          <a:ea typeface="標楷體"/>
                        </a:rPr>
                        <a:t> to &lt; 10</a:t>
                      </a:r>
                      <a:r>
                        <a:rPr lang="en-US" sz="2800" b="1" kern="100" baseline="30000">
                          <a:solidFill>
                            <a:srgbClr val="7030A0"/>
                          </a:solidFill>
                          <a:latin typeface="Arial"/>
                          <a:ea typeface="標楷體"/>
                        </a:rPr>
                        <a:t>-1</a:t>
                      </a:r>
                      <a:endParaRPr lang="zh-TW" sz="2800" b="1" kern="100">
                        <a:solidFill>
                          <a:srgbClr val="7030A0"/>
                        </a:solidFill>
                        <a:latin typeface="Arial"/>
                        <a:ea typeface="標楷體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2550" marR="82550"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solidFill>
                            <a:srgbClr val="7030A0"/>
                          </a:solidFill>
                          <a:latin typeface="Arial"/>
                          <a:ea typeface="標楷體"/>
                        </a:rPr>
                        <a:t>100 to 10</a:t>
                      </a:r>
                      <a:endParaRPr lang="zh-TW" sz="2800" b="1" kern="100" dirty="0">
                        <a:solidFill>
                          <a:srgbClr val="7030A0"/>
                        </a:solidFill>
                        <a:latin typeface="Arial"/>
                        <a:ea typeface="標楷體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文字方塊 5"/>
          <p:cNvSpPr txBox="1">
            <a:spLocks noChangeArrowheads="1"/>
          </p:cNvSpPr>
          <p:nvPr/>
        </p:nvSpPr>
        <p:spPr bwMode="auto">
          <a:xfrm>
            <a:off x="468313" y="476250"/>
            <a:ext cx="8424167" cy="1033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200000"/>
              </a:lnSpc>
            </a:pPr>
            <a:r>
              <a:rPr kumimoji="1" lang="en-US" altLang="zh-TW" sz="3600" b="1" u="sng" dirty="0" smtClean="0">
                <a:solidFill>
                  <a:srgbClr val="D60093"/>
                </a:solidFill>
                <a:latin typeface="標楷體" pitchFamily="65" charset="-120"/>
                <a:ea typeface="標楷體" pitchFamily="65" charset="-120"/>
              </a:rPr>
              <a:t>SIS</a:t>
            </a:r>
            <a:r>
              <a:rPr kumimoji="1" lang="en-US" altLang="zh-TW" sz="3600" b="1" dirty="0" smtClean="0">
                <a:solidFill>
                  <a:srgbClr val="D60093"/>
                </a:solidFill>
                <a:latin typeface="標楷體" pitchFamily="65" charset="-120"/>
                <a:ea typeface="標楷體" pitchFamily="65" charset="-120"/>
              </a:rPr>
              <a:t>: </a:t>
            </a:r>
            <a:r>
              <a:rPr kumimoji="1" lang="en-US" altLang="zh-TW" sz="3600" b="1" dirty="0" smtClean="0">
                <a:solidFill>
                  <a:srgbClr val="0099FF"/>
                </a:solidFill>
                <a:latin typeface="標楷體" pitchFamily="65" charset="-120"/>
                <a:ea typeface="標楷體" pitchFamily="65" charset="-120"/>
              </a:rPr>
              <a:t>PLC/SIS/Relay</a:t>
            </a:r>
            <a:r>
              <a:rPr kumimoji="1" lang="zh-TW" altLang="en-US" sz="3600" b="1" dirty="0" smtClean="0">
                <a:solidFill>
                  <a:srgbClr val="0099FF"/>
                </a:solidFill>
                <a:latin typeface="標楷體" pitchFamily="65" charset="-120"/>
                <a:ea typeface="標楷體" pitchFamily="65" charset="-120"/>
              </a:rPr>
              <a:t>比較</a:t>
            </a:r>
            <a:endParaRPr kumimoji="1" lang="en-US" altLang="zh-TW" sz="3600" b="1" dirty="0">
              <a:solidFill>
                <a:srgbClr val="0099FF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7" name="文字方塊 6"/>
          <p:cNvSpPr txBox="1">
            <a:spLocks noChangeArrowheads="1"/>
          </p:cNvSpPr>
          <p:nvPr/>
        </p:nvSpPr>
        <p:spPr bwMode="auto">
          <a:xfrm>
            <a:off x="251520" y="1772816"/>
            <a:ext cx="8461448" cy="4124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742950" indent="-742950" eaLnBrk="1" hangingPunct="1">
              <a:spcBef>
                <a:spcPts val="600"/>
              </a:spcBef>
              <a:buFont typeface="+mj-lt"/>
              <a:buAutoNum type="arabicPeriod"/>
            </a:pPr>
            <a:r>
              <a:rPr kumimoji="1" lang="en-US" altLang="zh-TW" sz="3600" b="1" kern="0" dirty="0" smtClean="0">
                <a:solidFill>
                  <a:srgbClr val="7030A0"/>
                </a:solidFill>
                <a:latin typeface="標楷體" pitchFamily="65" charset="-120"/>
                <a:ea typeface="標楷體" pitchFamily="65" charset="-120"/>
              </a:rPr>
              <a:t>Relay</a:t>
            </a:r>
            <a:r>
              <a:rPr kumimoji="1" lang="en-US" altLang="zh-TW" sz="3600" b="1" kern="0" dirty="0" smtClean="0">
                <a:solidFill>
                  <a:srgbClr val="7030A0"/>
                </a:solidFill>
              </a:rPr>
              <a:t>:</a:t>
            </a:r>
            <a:r>
              <a:rPr kumimoji="1" lang="zh-TW" altLang="en-US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便宜、不易受電子雜訊干擾</a:t>
            </a:r>
            <a:r>
              <a:rPr kumimoji="1" lang="en-US" altLang="zh-TW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/</a:t>
            </a:r>
            <a:r>
              <a:rPr kumimoji="1" lang="zh-TW" altLang="en-US" sz="3600" b="1" dirty="0" smtClean="0">
                <a:solidFill>
                  <a:schemeClr val="accent2">
                    <a:lumMod val="75000"/>
                  </a:schemeClr>
                </a:solidFill>
                <a:latin typeface="標楷體" pitchFamily="65" charset="-120"/>
                <a:ea typeface="標楷體" pitchFamily="65" charset="-120"/>
              </a:rPr>
              <a:t>修改不易</a:t>
            </a:r>
            <a:endParaRPr kumimoji="1" lang="en-US" altLang="zh-TW" sz="3600" b="1" kern="0" dirty="0" smtClean="0">
              <a:solidFill>
                <a:schemeClr val="accent2">
                  <a:lumMod val="75000"/>
                </a:schemeClr>
              </a:solidFill>
              <a:latin typeface="標楷體" pitchFamily="65" charset="-120"/>
              <a:ea typeface="標楷體" pitchFamily="65" charset="-120"/>
            </a:endParaRPr>
          </a:p>
          <a:p>
            <a:pPr marL="742950" indent="-742950" eaLnBrk="1" hangingPunct="1">
              <a:spcBef>
                <a:spcPts val="600"/>
              </a:spcBef>
              <a:buFont typeface="+mj-lt"/>
              <a:buAutoNum type="arabicPeriod"/>
            </a:pPr>
            <a:r>
              <a:rPr kumimoji="1" lang="en-US" altLang="zh-TW" sz="3600" b="1" kern="0" dirty="0" smtClean="0">
                <a:solidFill>
                  <a:srgbClr val="7030A0"/>
                </a:solidFill>
              </a:rPr>
              <a:t>PLC:</a:t>
            </a:r>
            <a:r>
              <a:rPr kumimoji="1" lang="zh-TW" altLang="en-US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易改、計算能力強、程式列印方便</a:t>
            </a:r>
            <a:r>
              <a:rPr kumimoji="1" lang="en-US" altLang="zh-TW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/</a:t>
            </a:r>
            <a:r>
              <a:rPr kumimoji="1" lang="en-US" altLang="zh-TW" sz="3600" b="1" dirty="0" smtClean="0">
                <a:solidFill>
                  <a:schemeClr val="accent2">
                    <a:lumMod val="75000"/>
                  </a:schemeClr>
                </a:solidFill>
                <a:latin typeface="標楷體" pitchFamily="65" charset="-120"/>
                <a:ea typeface="標楷體" pitchFamily="65" charset="-120"/>
              </a:rPr>
              <a:t>Switching components</a:t>
            </a:r>
            <a:r>
              <a:rPr kumimoji="1" lang="zh-TW" altLang="en-US" sz="3600" b="1" dirty="0" smtClean="0">
                <a:solidFill>
                  <a:schemeClr val="accent2">
                    <a:lumMod val="75000"/>
                  </a:schemeClr>
                </a:solidFill>
                <a:latin typeface="標楷體" pitchFamily="65" charset="-120"/>
                <a:ea typeface="標楷體" pitchFamily="65" charset="-120"/>
              </a:rPr>
              <a:t>如</a:t>
            </a:r>
            <a:r>
              <a:rPr kumimoji="1" lang="en-US" altLang="zh-TW" sz="3600" b="1" dirty="0" smtClean="0">
                <a:solidFill>
                  <a:schemeClr val="accent2">
                    <a:lumMod val="75000"/>
                  </a:schemeClr>
                </a:solidFill>
                <a:latin typeface="標楷體" pitchFamily="65" charset="-120"/>
                <a:ea typeface="標楷體" pitchFamily="65" charset="-120"/>
              </a:rPr>
              <a:t> transistor</a:t>
            </a:r>
            <a:r>
              <a:rPr kumimoji="1" lang="zh-TW" altLang="en-US" sz="3600" b="1" dirty="0" smtClean="0">
                <a:solidFill>
                  <a:schemeClr val="accent2">
                    <a:lumMod val="75000"/>
                  </a:schemeClr>
                </a:solidFill>
                <a:latin typeface="標楷體" pitchFamily="65" charset="-120"/>
                <a:ea typeface="標楷體" pitchFamily="65" charset="-120"/>
              </a:rPr>
              <a:t>故障率高約</a:t>
            </a:r>
            <a:r>
              <a:rPr kumimoji="1" lang="en-US" altLang="zh-TW" sz="3600" b="1" dirty="0" smtClean="0">
                <a:solidFill>
                  <a:schemeClr val="accent2">
                    <a:lumMod val="75000"/>
                  </a:schemeClr>
                </a:solidFill>
                <a:latin typeface="標楷體" pitchFamily="65" charset="-120"/>
                <a:ea typeface="標楷體" pitchFamily="65" charset="-120"/>
              </a:rPr>
              <a:t>50%</a:t>
            </a:r>
            <a:r>
              <a:rPr kumimoji="1" lang="en-US" altLang="zh-TW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 </a:t>
            </a:r>
          </a:p>
          <a:p>
            <a:pPr marL="742950" indent="-742950" algn="r" eaLnBrk="1" hangingPunct="1">
              <a:spcBef>
                <a:spcPts val="600"/>
              </a:spcBef>
              <a:buFont typeface="+mj-lt"/>
              <a:buAutoNum type="arabicPeriod"/>
            </a:pPr>
            <a:r>
              <a:rPr kumimoji="1" lang="en-US" altLang="zh-TW" sz="3600" b="1" kern="0" dirty="0" smtClean="0">
                <a:solidFill>
                  <a:srgbClr val="7030A0"/>
                </a:solidFill>
              </a:rPr>
              <a:t>SIS </a:t>
            </a:r>
            <a:r>
              <a:rPr kumimoji="1" lang="en-US" altLang="zh-TW" sz="3600" b="1" kern="0" dirty="0" smtClean="0">
                <a:solidFill>
                  <a:srgbClr val="7030A0"/>
                </a:solidFill>
              </a:rPr>
              <a:t>:</a:t>
            </a:r>
            <a:r>
              <a:rPr kumimoji="1" lang="zh-TW" altLang="en-US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有</a:t>
            </a:r>
            <a:r>
              <a:rPr kumimoji="1" lang="en-US" altLang="zh-TW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PLC</a:t>
            </a:r>
            <a:r>
              <a:rPr kumimoji="1" lang="zh-TW" altLang="en-US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的優點</a:t>
            </a:r>
            <a:r>
              <a:rPr kumimoji="1" lang="zh-TW" altLang="en-US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，加 </a:t>
            </a:r>
            <a:r>
              <a:rPr kumimoji="1" lang="en-US" altLang="zh-TW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diagnostics /redundancy </a:t>
            </a:r>
            <a:r>
              <a:rPr kumimoji="1" lang="en-US" altLang="zh-TW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  <a:sym typeface="Wingdings" pitchFamily="2" charset="2"/>
              </a:rPr>
              <a:t> </a:t>
            </a:r>
            <a:r>
              <a:rPr kumimoji="1" lang="en-US" altLang="zh-TW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fail safe</a:t>
            </a:r>
            <a:r>
              <a:rPr kumimoji="1" lang="zh-TW" altLang="en-US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以</a:t>
            </a:r>
            <a:r>
              <a:rPr kumimoji="1" lang="zh-TW" altLang="en-US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達到</a:t>
            </a:r>
            <a:r>
              <a:rPr kumimoji="1" lang="en-US" altLang="zh-TW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SIL</a:t>
            </a:r>
            <a:endParaRPr kumimoji="1" lang="en-US" altLang="zh-TW" sz="3600" b="1" dirty="0">
              <a:solidFill>
                <a:srgbClr val="669900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文字方塊 5"/>
          <p:cNvSpPr txBox="1">
            <a:spLocks noChangeArrowheads="1"/>
          </p:cNvSpPr>
          <p:nvPr/>
        </p:nvSpPr>
        <p:spPr bwMode="auto">
          <a:xfrm>
            <a:off x="468313" y="476250"/>
            <a:ext cx="8424167" cy="1033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200000"/>
              </a:lnSpc>
            </a:pPr>
            <a:r>
              <a:rPr kumimoji="1" lang="en-US" altLang="zh-TW" sz="3600" b="1" u="sng" dirty="0" smtClean="0">
                <a:solidFill>
                  <a:srgbClr val="D60093"/>
                </a:solidFill>
                <a:latin typeface="標楷體" pitchFamily="65" charset="-120"/>
                <a:ea typeface="標楷體" pitchFamily="65" charset="-120"/>
              </a:rPr>
              <a:t>SIS</a:t>
            </a:r>
            <a:r>
              <a:rPr kumimoji="1" lang="en-US" altLang="zh-TW" sz="3600" b="1" dirty="0" smtClean="0">
                <a:solidFill>
                  <a:srgbClr val="D60093"/>
                </a:solidFill>
                <a:latin typeface="標楷體" pitchFamily="65" charset="-120"/>
                <a:ea typeface="標楷體" pitchFamily="65" charset="-120"/>
              </a:rPr>
              <a:t>: </a:t>
            </a:r>
            <a:r>
              <a:rPr kumimoji="1" lang="en-US" altLang="zh-TW" sz="3600" b="1" dirty="0" smtClean="0">
                <a:solidFill>
                  <a:srgbClr val="0099FF"/>
                </a:solidFill>
                <a:latin typeface="標楷體" pitchFamily="65" charset="-120"/>
                <a:ea typeface="標楷體" pitchFamily="65" charset="-120"/>
              </a:rPr>
              <a:t>CPU, I/O Redundancy</a:t>
            </a:r>
            <a:endParaRPr kumimoji="1" lang="en-US" altLang="zh-TW" sz="3600" b="1" dirty="0">
              <a:solidFill>
                <a:srgbClr val="0099FF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7" name="文字方塊 6"/>
          <p:cNvSpPr txBox="1">
            <a:spLocks noChangeArrowheads="1"/>
          </p:cNvSpPr>
          <p:nvPr/>
        </p:nvSpPr>
        <p:spPr bwMode="auto">
          <a:xfrm>
            <a:off x="539552" y="1772816"/>
            <a:ext cx="7920880" cy="1277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742950" indent="-742950" eaLnBrk="1" hangingPunct="1">
              <a:spcBef>
                <a:spcPts val="600"/>
              </a:spcBef>
              <a:buFont typeface="+mj-lt"/>
              <a:buAutoNum type="arabicPeriod"/>
            </a:pPr>
            <a:r>
              <a:rPr kumimoji="1" lang="en-US" altLang="zh-TW" sz="3600" b="1" kern="0" dirty="0" smtClean="0">
                <a:solidFill>
                  <a:srgbClr val="7030A0"/>
                </a:solidFill>
              </a:rPr>
              <a:t>TMR: </a:t>
            </a:r>
            <a:r>
              <a:rPr kumimoji="1" lang="en-US" altLang="zh-TW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Triple Module Redundancy</a:t>
            </a:r>
            <a:endParaRPr kumimoji="1" lang="en-US" altLang="zh-TW" sz="3600" b="1" kern="0" dirty="0" smtClean="0">
              <a:solidFill>
                <a:schemeClr val="accent2">
                  <a:lumMod val="75000"/>
                </a:schemeClr>
              </a:solidFill>
              <a:latin typeface="標楷體" pitchFamily="65" charset="-120"/>
              <a:ea typeface="標楷體" pitchFamily="65" charset="-120"/>
            </a:endParaRPr>
          </a:p>
          <a:p>
            <a:pPr marL="742950" indent="-742950" eaLnBrk="1" hangingPunct="1">
              <a:spcBef>
                <a:spcPts val="600"/>
              </a:spcBef>
              <a:buFont typeface="+mj-lt"/>
              <a:buAutoNum type="arabicPeriod"/>
            </a:pPr>
            <a:r>
              <a:rPr kumimoji="1" lang="en-US" altLang="zh-TW" sz="3600" b="1" kern="0" dirty="0" smtClean="0">
                <a:solidFill>
                  <a:srgbClr val="7030A0"/>
                </a:solidFill>
              </a:rPr>
              <a:t>QMR: </a:t>
            </a:r>
            <a:r>
              <a:rPr kumimoji="1" lang="en-US" altLang="zh-TW" sz="36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Quad Module Redundancy</a:t>
            </a:r>
            <a:endParaRPr kumimoji="1" lang="en-US" altLang="zh-TW" sz="3600" b="1" dirty="0">
              <a:solidFill>
                <a:srgbClr val="669900"/>
              </a:solidFill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3068960"/>
            <a:ext cx="8119061" cy="3096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文字方塊 5"/>
          <p:cNvSpPr txBox="1">
            <a:spLocks noChangeArrowheads="1"/>
          </p:cNvSpPr>
          <p:nvPr/>
        </p:nvSpPr>
        <p:spPr bwMode="auto">
          <a:xfrm>
            <a:off x="468313" y="476250"/>
            <a:ext cx="8424167" cy="1033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200000"/>
              </a:lnSpc>
            </a:pPr>
            <a:r>
              <a:rPr kumimoji="1" lang="en-US" altLang="zh-TW" sz="3600" b="1" u="sng" dirty="0" smtClean="0">
                <a:solidFill>
                  <a:srgbClr val="D60093"/>
                </a:solidFill>
                <a:latin typeface="標楷體" pitchFamily="65" charset="-120"/>
                <a:ea typeface="標楷體" pitchFamily="65" charset="-120"/>
              </a:rPr>
              <a:t>SIS</a:t>
            </a:r>
            <a:r>
              <a:rPr kumimoji="1" lang="en-US" altLang="zh-TW" sz="3600" b="1" dirty="0" smtClean="0">
                <a:solidFill>
                  <a:srgbClr val="D60093"/>
                </a:solidFill>
                <a:latin typeface="標楷體" pitchFamily="65" charset="-120"/>
                <a:ea typeface="標楷體" pitchFamily="65" charset="-120"/>
              </a:rPr>
              <a:t>: </a:t>
            </a:r>
            <a:r>
              <a:rPr kumimoji="1" lang="en-US" altLang="zh-TW" sz="3600" b="1" dirty="0" smtClean="0">
                <a:solidFill>
                  <a:srgbClr val="0099FF"/>
                </a:solidFill>
                <a:latin typeface="標楷體" pitchFamily="65" charset="-120"/>
                <a:ea typeface="標楷體" pitchFamily="65" charset="-120"/>
              </a:rPr>
              <a:t>SIF Proof Test</a:t>
            </a:r>
            <a:endParaRPr kumimoji="1" lang="en-US" altLang="zh-TW" sz="3600" b="1" dirty="0">
              <a:solidFill>
                <a:srgbClr val="0099FF"/>
              </a:solidFill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3276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3645024"/>
            <a:ext cx="7851252" cy="2397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文字方塊 7"/>
          <p:cNvSpPr txBox="1">
            <a:spLocks noChangeArrowheads="1"/>
          </p:cNvSpPr>
          <p:nvPr/>
        </p:nvSpPr>
        <p:spPr bwMode="auto">
          <a:xfrm>
            <a:off x="539552" y="1844824"/>
            <a:ext cx="7920880" cy="1569660"/>
          </a:xfrm>
          <a:prstGeom prst="rect">
            <a:avLst/>
          </a:prstGeom>
          <a:solidFill>
            <a:srgbClr val="CCFFFF"/>
          </a:solidFill>
          <a:ln w="9525">
            <a:solidFill>
              <a:srgbClr val="336600"/>
            </a:solidFill>
            <a:miter lim="800000"/>
            <a:headEnd/>
            <a:tailEnd/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 prst="convex"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TW" sz="3200" b="1" dirty="0" smtClean="0">
                <a:solidFill>
                  <a:srgbClr val="800000"/>
                </a:solidFill>
                <a:latin typeface="+mj-lt"/>
                <a:ea typeface="標楷體" pitchFamily="65" charset="-120"/>
              </a:rPr>
              <a:t>SIF (Safety Instrumented Function) </a:t>
            </a:r>
            <a:r>
              <a:rPr lang="en-US" altLang="zh-TW" sz="3200" b="1" dirty="0" smtClean="0">
                <a:solidFill>
                  <a:srgbClr val="800000"/>
                </a:solidFill>
                <a:ea typeface="標楷體" pitchFamily="65" charset="-120"/>
              </a:rPr>
              <a:t>Proof Test:  </a:t>
            </a:r>
            <a:r>
              <a:rPr kumimoji="1" lang="zh-TW" altLang="en-US" sz="32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須以</a:t>
            </a:r>
            <a:r>
              <a:rPr kumimoji="1" lang="en-US" altLang="zh-TW" sz="32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SIL PFD</a:t>
            </a:r>
            <a:r>
              <a:rPr kumimoji="1" lang="zh-TW" altLang="en-US" sz="32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計算書上所示測試頻率來測試廣義的</a:t>
            </a:r>
            <a:r>
              <a:rPr kumimoji="1" lang="en-US" altLang="zh-TW" sz="32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SIS</a:t>
            </a:r>
            <a:r>
              <a:rPr kumimoji="1" lang="zh-TW" altLang="en-US" sz="3200" b="1" dirty="0" smtClean="0">
                <a:solidFill>
                  <a:srgbClr val="669900"/>
                </a:solidFill>
                <a:latin typeface="標楷體" pitchFamily="65" charset="-120"/>
                <a:ea typeface="標楷體" pitchFamily="65" charset="-120"/>
              </a:rPr>
              <a:t>，即含現場儀表。</a:t>
            </a:r>
            <a:endParaRPr kumimoji="1" lang="zh-TW" altLang="en-US" sz="3200" b="1" dirty="0">
              <a:solidFill>
                <a:srgbClr val="669900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/>
          <p:cNvSpPr>
            <a:spLocks noChangeArrowheads="1"/>
          </p:cNvSpPr>
          <p:nvPr/>
        </p:nvSpPr>
        <p:spPr bwMode="auto">
          <a:xfrm>
            <a:off x="1547664" y="1844824"/>
            <a:ext cx="5562600" cy="1676400"/>
          </a:xfrm>
          <a:prstGeom prst="wave">
            <a:avLst>
              <a:gd name="adj1" fmla="val 13005"/>
              <a:gd name="adj2" fmla="val 0"/>
            </a:avLst>
          </a:prstGeom>
          <a:gradFill rotWithShape="1">
            <a:gsLst>
              <a:gs pos="0">
                <a:srgbClr val="FF0066"/>
              </a:gs>
              <a:gs pos="50000">
                <a:srgbClr val="FFFF00"/>
              </a:gs>
              <a:gs pos="100000">
                <a:srgbClr val="FF0066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TW" sz="4400" b="1" dirty="0">
                <a:solidFill>
                  <a:srgbClr val="FF0066"/>
                </a:solidFill>
                <a:latin typeface="Times New Roman" pitchFamily="18" charset="0"/>
              </a:rPr>
              <a:t>Thank you!</a:t>
            </a:r>
          </a:p>
        </p:txBody>
      </p:sp>
      <p:sp>
        <p:nvSpPr>
          <p:cNvPr id="5" name="Oval 7"/>
          <p:cNvSpPr>
            <a:spLocks noChangeArrowheads="1"/>
          </p:cNvSpPr>
          <p:nvPr/>
        </p:nvSpPr>
        <p:spPr bwMode="auto">
          <a:xfrm>
            <a:off x="899592" y="3501008"/>
            <a:ext cx="7848600" cy="2592388"/>
          </a:xfrm>
          <a:prstGeom prst="ellipse">
            <a:avLst/>
          </a:prstGeom>
          <a:gradFill rotWithShape="1">
            <a:gsLst>
              <a:gs pos="0">
                <a:srgbClr val="003366"/>
              </a:gs>
              <a:gs pos="100000">
                <a:srgbClr val="0000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8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50000"/>
              </a:lnSpc>
            </a:pPr>
            <a:r>
              <a:rPr lang="zh-TW" altLang="en-US" sz="2800" dirty="0" smtClean="0"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余麗玲 </a:t>
            </a:r>
            <a:r>
              <a:rPr lang="en-US" altLang="zh-TW" sz="2800" smtClean="0">
                <a:solidFill>
                  <a:schemeClr val="bg1"/>
                </a:solidFill>
              </a:rPr>
              <a:t>16</a:t>
            </a:r>
            <a:r>
              <a:rPr lang="en-US" altLang="zh-TW" sz="2800" i="0" smtClean="0">
                <a:solidFill>
                  <a:schemeClr val="bg1"/>
                </a:solidFill>
              </a:rPr>
              <a:t> June </a:t>
            </a:r>
            <a:r>
              <a:rPr lang="en-US" altLang="zh-TW" sz="2800" i="0" dirty="0" smtClean="0">
                <a:solidFill>
                  <a:schemeClr val="bg1"/>
                </a:solidFill>
              </a:rPr>
              <a:t>2012</a:t>
            </a:r>
            <a:endParaRPr lang="en-US" altLang="zh-TW" sz="2800" i="0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zh-TW" sz="2800" i="0" dirty="0">
                <a:solidFill>
                  <a:schemeClr val="bg1"/>
                </a:solidFill>
              </a:rPr>
              <a:t>Lily@ctci.com.tw</a:t>
            </a:r>
          </a:p>
          <a:p>
            <a:pPr algn="ctr">
              <a:lnSpc>
                <a:spcPct val="150000"/>
              </a:lnSpc>
            </a:pPr>
            <a:r>
              <a:rPr lang="en-US" altLang="zh-TW" sz="2800" i="0" dirty="0">
                <a:solidFill>
                  <a:schemeClr val="bg1"/>
                </a:solidFill>
              </a:rPr>
              <a:t>www.ctci.com.tw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預設簡報設計">
  <a:themeElements>
    <a:clrScheme name="自訂 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A3A3E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ln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自訂 3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A3A3E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2162</TotalTime>
  <Words>658</Words>
  <Application>Microsoft Office PowerPoint</Application>
  <PresentationFormat>如螢幕大小 (4:3)</PresentationFormat>
  <Paragraphs>91</Paragraphs>
  <Slides>22</Slides>
  <Notes>0</Notes>
  <HiddenSlides>0</HiddenSlides>
  <MMClips>0</MMClips>
  <ScaleCrop>false</ScaleCrop>
  <HeadingPairs>
    <vt:vector size="6" baseType="variant"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24" baseType="lpstr">
      <vt:lpstr>預設簡報設計</vt:lpstr>
      <vt:lpstr>Visio</vt:lpstr>
      <vt:lpstr>化工廠控制系統介紹：DCS/SIS</vt:lpstr>
      <vt:lpstr>投影片 2</vt:lpstr>
      <vt:lpstr>投影片 3</vt:lpstr>
      <vt:lpstr>投影片 4</vt:lpstr>
      <vt:lpstr>投影片 5</vt:lpstr>
      <vt:lpstr>投影片 6</vt:lpstr>
      <vt:lpstr>投影片 7</vt:lpstr>
      <vt:lpstr>投影片 8</vt:lpstr>
      <vt:lpstr>投影片 9</vt:lpstr>
      <vt:lpstr>投影片 10</vt:lpstr>
      <vt:lpstr>投影片 11</vt:lpstr>
      <vt:lpstr>投影片 12</vt:lpstr>
      <vt:lpstr>投影片 13</vt:lpstr>
      <vt:lpstr>投影片 14</vt:lpstr>
      <vt:lpstr>投影片 15</vt:lpstr>
      <vt:lpstr>投影片 16</vt:lpstr>
      <vt:lpstr>投影片 17</vt:lpstr>
      <vt:lpstr>投影片 18</vt:lpstr>
      <vt:lpstr>投影片 19</vt:lpstr>
      <vt:lpstr>投影片 20</vt:lpstr>
      <vt:lpstr>投影片 21</vt:lpstr>
      <vt:lpstr>投影片 22</vt:lpstr>
    </vt:vector>
  </TitlesOfParts>
  <Company>RAY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RAY</dc:creator>
  <cp:lastModifiedBy>28780</cp:lastModifiedBy>
  <cp:revision>820</cp:revision>
  <dcterms:created xsi:type="dcterms:W3CDTF">2012-02-18T11:05:10Z</dcterms:created>
  <dcterms:modified xsi:type="dcterms:W3CDTF">2012-06-02T10:06:51Z</dcterms:modified>
</cp:coreProperties>
</file>